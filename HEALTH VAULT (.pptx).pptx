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 (MS)" panose="020B0604020202020204" charset="0"/>
      <p:regular r:id="rId13"/>
    </p:embeddedFont>
    <p:embeddedFont>
      <p:font typeface="Calibri (MS) Bold" panose="020B0604020202020204" charset="0"/>
      <p:regular r:id="rId14"/>
    </p:embeddedFont>
    <p:embeddedFont>
      <p:font typeface="Calibri (MS) Italics" panose="020B0604020202020204" charset="0"/>
      <p:regular r:id="rId15"/>
    </p:embeddedFont>
    <p:embeddedFont>
      <p:font typeface="Cambria Bold" panose="02040803050406030204" pitchFamily="18" charset="0"/>
      <p:regular r:id="rId16"/>
      <p:bold r:id="rId17"/>
    </p:embeddedFont>
    <p:embeddedFont>
      <p:font typeface="Cambria Bold Italics" panose="020B0604020202020204" charset="0"/>
      <p:regular r:id="rId18"/>
    </p:embeddedFont>
    <p:embeddedFont>
      <p:font typeface="Cambria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3.png"/><Relationship Id="rId10" Type="http://schemas.openxmlformats.org/officeDocument/2006/relationships/image" Target="../media/image15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754380"/>
            <a:ext cx="6309360" cy="576072"/>
            <a:chOff x="0" y="0"/>
            <a:chExt cx="8412480" cy="7680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412480" cy="768096"/>
            </a:xfrm>
            <a:custGeom>
              <a:avLst/>
              <a:gdLst/>
              <a:ahLst/>
              <a:cxnLst/>
              <a:rect l="l" t="t" r="r" b="b"/>
              <a:pathLst>
                <a:path w="8412480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8028432" y="0"/>
                  </a:lnTo>
                  <a:cubicBezTo>
                    <a:pt x="8240522" y="0"/>
                    <a:pt x="8412480" y="171958"/>
                    <a:pt x="8412480" y="384048"/>
                  </a:cubicBezTo>
                  <a:cubicBezTo>
                    <a:pt x="8412480" y="596138"/>
                    <a:pt x="8240522" y="768096"/>
                    <a:pt x="802843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3B8A6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822960" y="754380"/>
            <a:ext cx="6309360" cy="576072"/>
            <a:chOff x="0" y="0"/>
            <a:chExt cx="8412480" cy="7680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412480" cy="768096"/>
            </a:xfrm>
            <a:custGeom>
              <a:avLst/>
              <a:gdLst/>
              <a:ahLst/>
              <a:cxnLst/>
              <a:rect l="l" t="t" r="r" b="b"/>
              <a:pathLst>
                <a:path w="8412480" h="768096">
                  <a:moveTo>
                    <a:pt x="0" y="0"/>
                  </a:moveTo>
                  <a:lnTo>
                    <a:pt x="8412480" y="0"/>
                  </a:lnTo>
                  <a:lnTo>
                    <a:pt x="84124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3407" b="-16340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412480" cy="7966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 spc="150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URAN 2026   •   HEALTHTECH   •   HT-05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380" y="2125980"/>
            <a:ext cx="14401800" cy="1783080"/>
            <a:chOff x="0" y="0"/>
            <a:chExt cx="19202400" cy="2377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202400" cy="2377440"/>
            </a:xfrm>
            <a:custGeom>
              <a:avLst/>
              <a:gdLst/>
              <a:ahLst/>
              <a:cxnLst/>
              <a:rect l="l" t="t" r="r" b="b"/>
              <a:pathLst>
                <a:path w="19202400" h="2377440">
                  <a:moveTo>
                    <a:pt x="0" y="0"/>
                  </a:moveTo>
                  <a:lnTo>
                    <a:pt x="19202400" y="0"/>
                  </a:lnTo>
                  <a:lnTo>
                    <a:pt x="192024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7379" b="-107379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202400" cy="2396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800"/>
                </a:lnSpc>
              </a:pPr>
              <a:r>
                <a:rPr lang="en-US" sz="9000" b="1" spc="1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HEALTHVAULT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22960" y="3771900"/>
            <a:ext cx="13030200" cy="754380"/>
            <a:chOff x="0" y="0"/>
            <a:chExt cx="17373600" cy="10058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373600" cy="1005840"/>
            </a:xfrm>
            <a:custGeom>
              <a:avLst/>
              <a:gdLst/>
              <a:ahLst/>
              <a:cxnLst/>
              <a:rect l="l" t="t" r="r" b="b"/>
              <a:pathLst>
                <a:path w="17373600" h="1005840">
                  <a:moveTo>
                    <a:pt x="0" y="0"/>
                  </a:moveTo>
                  <a:lnTo>
                    <a:pt x="17373600" y="0"/>
                  </a:lnTo>
                  <a:lnTo>
                    <a:pt x="1737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6559" b="-28655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737360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1FB6A6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“Your Health. Your Data. Your Control.”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22960" y="4594860"/>
            <a:ext cx="11795760" cy="685800"/>
            <a:chOff x="0" y="0"/>
            <a:chExt cx="15727680" cy="914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727680" cy="914400"/>
            </a:xfrm>
            <a:custGeom>
              <a:avLst/>
              <a:gdLst/>
              <a:ahLst/>
              <a:cxnLst/>
              <a:rect l="l" t="t" r="r" b="b"/>
              <a:pathLst>
                <a:path w="15727680" h="914400">
                  <a:moveTo>
                    <a:pt x="0" y="0"/>
                  </a:moveTo>
                  <a:lnTo>
                    <a:pt x="15727680" y="0"/>
                  </a:lnTo>
                  <a:lnTo>
                    <a:pt x="15727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5142" b="-285142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572768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C9D7E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Secure Digital Personal Health Record &amp; Follow-Up Management Platform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2960" y="5966460"/>
            <a:ext cx="4320540" cy="2125980"/>
            <a:chOff x="0" y="0"/>
            <a:chExt cx="5760720" cy="2834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760720" cy="2834640"/>
            </a:xfrm>
            <a:custGeom>
              <a:avLst/>
              <a:gdLst/>
              <a:ahLst/>
              <a:cxnLst/>
              <a:rect l="l" t="t" r="r" b="b"/>
              <a:pathLst>
                <a:path w="5760720" h="283464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504688" y="0"/>
                  </a:lnTo>
                  <a:cubicBezTo>
                    <a:pt x="5646039" y="0"/>
                    <a:pt x="5760720" y="114681"/>
                    <a:pt x="5760720" y="256032"/>
                  </a:cubicBezTo>
                  <a:lnTo>
                    <a:pt x="5760720" y="2578608"/>
                  </a:lnTo>
                  <a:cubicBezTo>
                    <a:pt x="5760720" y="2719959"/>
                    <a:pt x="5646039" y="2834640"/>
                    <a:pt x="5504688" y="2834640"/>
                  </a:cubicBezTo>
                  <a:lnTo>
                    <a:pt x="256032" y="2834640"/>
                  </a:lnTo>
                  <a:cubicBezTo>
                    <a:pt x="114681" y="2834640"/>
                    <a:pt x="0" y="2719959"/>
                    <a:pt x="0" y="2578608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2503170" y="6268212"/>
            <a:ext cx="960120" cy="960120"/>
            <a:chOff x="0" y="0"/>
            <a:chExt cx="1280160" cy="12801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F3E52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2722626" y="6487668"/>
            <a:ext cx="521208" cy="521208"/>
            <a:chOff x="0" y="0"/>
            <a:chExt cx="694944" cy="694944"/>
          </a:xfrm>
        </p:grpSpPr>
        <p:sp>
          <p:nvSpPr>
            <p:cNvPr id="22" name="Freeform 22" descr="icons/user_teal.png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822960" y="7338060"/>
            <a:ext cx="4320540" cy="411480"/>
            <a:chOff x="0" y="0"/>
            <a:chExt cx="5760720" cy="5486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760720" cy="548640"/>
            </a:xfrm>
            <a:custGeom>
              <a:avLst/>
              <a:gdLst/>
              <a:ahLst/>
              <a:cxnLst/>
              <a:rect l="l" t="t" r="r" b="b"/>
              <a:pathLst>
                <a:path w="5760720" h="548640">
                  <a:moveTo>
                    <a:pt x="0" y="0"/>
                  </a:moveTo>
                  <a:lnTo>
                    <a:pt x="5760720" y="0"/>
                  </a:lnTo>
                  <a:lnTo>
                    <a:pt x="5760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4592" b="-15459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576072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28700" y="7708392"/>
            <a:ext cx="3909060" cy="329184"/>
            <a:chOff x="0" y="0"/>
            <a:chExt cx="5212080" cy="4389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212080" cy="438912"/>
            </a:xfrm>
            <a:custGeom>
              <a:avLst/>
              <a:gdLst/>
              <a:ahLst/>
              <a:cxnLst/>
              <a:rect l="l" t="t" r="r" b="b"/>
              <a:pathLst>
                <a:path w="5212080" h="438912">
                  <a:moveTo>
                    <a:pt x="0" y="0"/>
                  </a:moveTo>
                  <a:lnTo>
                    <a:pt x="5212080" y="0"/>
                  </a:lnTo>
                  <a:lnTo>
                    <a:pt x="5212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384" b="-18138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5212080" cy="4674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9F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Owns &amp; controls records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53228" y="6919722"/>
            <a:ext cx="534924" cy="219456"/>
            <a:chOff x="0" y="0"/>
            <a:chExt cx="713232" cy="29260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13232" cy="292608"/>
            </a:xfrm>
            <a:custGeom>
              <a:avLst/>
              <a:gdLst/>
              <a:ahLst/>
              <a:cxnLst/>
              <a:rect l="l" t="t" r="r" b="b"/>
              <a:pathLst>
                <a:path w="713232" h="292608">
                  <a:moveTo>
                    <a:pt x="0" y="73152"/>
                  </a:moveTo>
                  <a:lnTo>
                    <a:pt x="566928" y="73152"/>
                  </a:lnTo>
                  <a:lnTo>
                    <a:pt x="566928" y="0"/>
                  </a:lnTo>
                  <a:lnTo>
                    <a:pt x="713232" y="146304"/>
                  </a:lnTo>
                  <a:lnTo>
                    <a:pt x="566928" y="292608"/>
                  </a:lnTo>
                  <a:lnTo>
                    <a:pt x="566928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5897880" y="5966460"/>
            <a:ext cx="4320540" cy="2125980"/>
            <a:chOff x="0" y="0"/>
            <a:chExt cx="5760720" cy="28346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760720" cy="2834640"/>
            </a:xfrm>
            <a:custGeom>
              <a:avLst/>
              <a:gdLst/>
              <a:ahLst/>
              <a:cxnLst/>
              <a:rect l="l" t="t" r="r" b="b"/>
              <a:pathLst>
                <a:path w="5760720" h="283464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504688" y="0"/>
                  </a:lnTo>
                  <a:cubicBezTo>
                    <a:pt x="5646039" y="0"/>
                    <a:pt x="5760720" y="114681"/>
                    <a:pt x="5760720" y="256032"/>
                  </a:cubicBezTo>
                  <a:lnTo>
                    <a:pt x="5760720" y="2578608"/>
                  </a:lnTo>
                  <a:cubicBezTo>
                    <a:pt x="5760720" y="2719959"/>
                    <a:pt x="5646039" y="2834640"/>
                    <a:pt x="5504688" y="2834640"/>
                  </a:cubicBezTo>
                  <a:lnTo>
                    <a:pt x="256032" y="2834640"/>
                  </a:lnTo>
                  <a:cubicBezTo>
                    <a:pt x="114681" y="2834640"/>
                    <a:pt x="0" y="2719959"/>
                    <a:pt x="0" y="2578608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7578090" y="6268212"/>
            <a:ext cx="960120" cy="960120"/>
            <a:chOff x="0" y="0"/>
            <a:chExt cx="1280160" cy="12801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F3E52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7797546" y="6487668"/>
            <a:ext cx="521208" cy="521208"/>
            <a:chOff x="0" y="0"/>
            <a:chExt cx="694944" cy="694944"/>
          </a:xfrm>
        </p:grpSpPr>
        <p:sp>
          <p:nvSpPr>
            <p:cNvPr id="36" name="Freeform 36" descr="icons/lock_teal.png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5897880" y="7338060"/>
            <a:ext cx="4320540" cy="411480"/>
            <a:chOff x="0" y="0"/>
            <a:chExt cx="5760720" cy="5486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760720" cy="548640"/>
            </a:xfrm>
            <a:custGeom>
              <a:avLst/>
              <a:gdLst/>
              <a:ahLst/>
              <a:cxnLst/>
              <a:rect l="l" t="t" r="r" b="b"/>
              <a:pathLst>
                <a:path w="5760720" h="548640">
                  <a:moveTo>
                    <a:pt x="0" y="0"/>
                  </a:moveTo>
                  <a:lnTo>
                    <a:pt x="5760720" y="0"/>
                  </a:lnTo>
                  <a:lnTo>
                    <a:pt x="5760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4592" b="-154592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576072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Secure Health Vault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03620" y="7708392"/>
            <a:ext cx="3909060" cy="329184"/>
            <a:chOff x="0" y="0"/>
            <a:chExt cx="5212080" cy="43891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212080" cy="438912"/>
            </a:xfrm>
            <a:custGeom>
              <a:avLst/>
              <a:gdLst/>
              <a:ahLst/>
              <a:cxnLst/>
              <a:rect l="l" t="t" r="r" b="b"/>
              <a:pathLst>
                <a:path w="5212080" h="438912">
                  <a:moveTo>
                    <a:pt x="0" y="0"/>
                  </a:moveTo>
                  <a:lnTo>
                    <a:pt x="5212080" y="0"/>
                  </a:lnTo>
                  <a:lnTo>
                    <a:pt x="5212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384" b="-181384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5212080" cy="4674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9F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Encrypted • Access-controlled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328148" y="6919722"/>
            <a:ext cx="534924" cy="219456"/>
            <a:chOff x="0" y="0"/>
            <a:chExt cx="713232" cy="29260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13232" cy="292608"/>
            </a:xfrm>
            <a:custGeom>
              <a:avLst/>
              <a:gdLst/>
              <a:ahLst/>
              <a:cxnLst/>
              <a:rect l="l" t="t" r="r" b="b"/>
              <a:pathLst>
                <a:path w="713232" h="292608">
                  <a:moveTo>
                    <a:pt x="0" y="73152"/>
                  </a:moveTo>
                  <a:lnTo>
                    <a:pt x="566928" y="73152"/>
                  </a:lnTo>
                  <a:lnTo>
                    <a:pt x="566928" y="0"/>
                  </a:lnTo>
                  <a:lnTo>
                    <a:pt x="713232" y="146304"/>
                  </a:lnTo>
                  <a:lnTo>
                    <a:pt x="566928" y="292608"/>
                  </a:lnTo>
                  <a:lnTo>
                    <a:pt x="566928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0972800" y="5966460"/>
            <a:ext cx="4320540" cy="2125980"/>
            <a:chOff x="0" y="0"/>
            <a:chExt cx="5760720" cy="28346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760720" cy="2834640"/>
            </a:xfrm>
            <a:custGeom>
              <a:avLst/>
              <a:gdLst/>
              <a:ahLst/>
              <a:cxnLst/>
              <a:rect l="l" t="t" r="r" b="b"/>
              <a:pathLst>
                <a:path w="5760720" h="283464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504688" y="0"/>
                  </a:lnTo>
                  <a:cubicBezTo>
                    <a:pt x="5646039" y="0"/>
                    <a:pt x="5760720" y="114681"/>
                    <a:pt x="5760720" y="256032"/>
                  </a:cubicBezTo>
                  <a:lnTo>
                    <a:pt x="5760720" y="2578608"/>
                  </a:lnTo>
                  <a:cubicBezTo>
                    <a:pt x="5760720" y="2719959"/>
                    <a:pt x="5646039" y="2834640"/>
                    <a:pt x="5504688" y="2834640"/>
                  </a:cubicBezTo>
                  <a:lnTo>
                    <a:pt x="256032" y="2834640"/>
                  </a:lnTo>
                  <a:cubicBezTo>
                    <a:pt x="114681" y="2834640"/>
                    <a:pt x="0" y="2719959"/>
                    <a:pt x="0" y="2578608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2653010" y="6268212"/>
            <a:ext cx="960120" cy="960120"/>
            <a:chOff x="0" y="0"/>
            <a:chExt cx="1280160" cy="128016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F3E52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2872466" y="6487668"/>
            <a:ext cx="521208" cy="521208"/>
            <a:chOff x="0" y="0"/>
            <a:chExt cx="694944" cy="694944"/>
          </a:xfrm>
        </p:grpSpPr>
        <p:sp>
          <p:nvSpPr>
            <p:cNvPr id="50" name="Freeform 50" descr="icons/doctor_teal.png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10972800" y="7338060"/>
            <a:ext cx="4320540" cy="411480"/>
            <a:chOff x="0" y="0"/>
            <a:chExt cx="5760720" cy="5486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760720" cy="548640"/>
            </a:xfrm>
            <a:custGeom>
              <a:avLst/>
              <a:gdLst/>
              <a:ahLst/>
              <a:cxnLst/>
              <a:rect l="l" t="t" r="r" b="b"/>
              <a:pathLst>
                <a:path w="5760720" h="548640">
                  <a:moveTo>
                    <a:pt x="0" y="0"/>
                  </a:moveTo>
                  <a:lnTo>
                    <a:pt x="5760720" y="0"/>
                  </a:lnTo>
                  <a:lnTo>
                    <a:pt x="5760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4592" b="-154592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576072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Authorized Doctor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178540" y="7708392"/>
            <a:ext cx="3909060" cy="329184"/>
            <a:chOff x="0" y="0"/>
            <a:chExt cx="5212080" cy="43891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212080" cy="438912"/>
            </a:xfrm>
            <a:custGeom>
              <a:avLst/>
              <a:gdLst/>
              <a:ahLst/>
              <a:cxnLst/>
              <a:rect l="l" t="t" r="r" b="b"/>
              <a:pathLst>
                <a:path w="5212080" h="438912">
                  <a:moveTo>
                    <a:pt x="0" y="0"/>
                  </a:moveTo>
                  <a:lnTo>
                    <a:pt x="5212080" y="0"/>
                  </a:lnTo>
                  <a:lnTo>
                    <a:pt x="5212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384" b="-181384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5212080" cy="4674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9F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Permission-based access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22960" y="8983980"/>
            <a:ext cx="13030200" cy="411480"/>
            <a:chOff x="0" y="0"/>
            <a:chExt cx="17373600" cy="54864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7373600" cy="548640"/>
            </a:xfrm>
            <a:custGeom>
              <a:avLst/>
              <a:gdLst/>
              <a:ahLst/>
              <a:cxnLst/>
              <a:rect l="l" t="t" r="r" b="b"/>
              <a:pathLst>
                <a:path w="17373600" h="548640">
                  <a:moveTo>
                    <a:pt x="0" y="0"/>
                  </a:moveTo>
                  <a:lnTo>
                    <a:pt x="17373600" y="0"/>
                  </a:lnTo>
                  <a:lnTo>
                    <a:pt x="1737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67026" b="-567026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173736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dirty="0">
                  <a:solidFill>
                    <a:srgbClr val="1FB6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Name: </a:t>
              </a:r>
              <a:r>
                <a:rPr lang="en-US" sz="2000" dirty="0">
                  <a:solidFill>
                    <a:srgbClr val="C9D7E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RURAVEX       </a:t>
              </a:r>
              <a:r>
                <a:rPr lang="en-US" sz="2000" b="1" dirty="0">
                  <a:solidFill>
                    <a:srgbClr val="1FB6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College:  </a:t>
              </a:r>
              <a:r>
                <a:rPr lang="en-US" sz="2000" dirty="0">
                  <a:solidFill>
                    <a:srgbClr val="C9D7E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KINGS COLLEGEOF ENGINEERING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54380" y="9421749"/>
            <a:ext cx="14470380" cy="440055"/>
            <a:chOff x="-91440" y="-38100"/>
            <a:chExt cx="19293840" cy="586740"/>
          </a:xfrm>
        </p:grpSpPr>
        <p:sp>
          <p:nvSpPr>
            <p:cNvPr id="61" name="Freeform 61"/>
            <p:cNvSpPr/>
            <p:nvPr/>
          </p:nvSpPr>
          <p:spPr>
            <a:xfrm>
              <a:off x="-91440" y="-24557"/>
              <a:ext cx="19202400" cy="548640"/>
            </a:xfrm>
            <a:custGeom>
              <a:avLst/>
              <a:gdLst/>
              <a:ahLst/>
              <a:cxnLst/>
              <a:rect l="l" t="t" r="r" b="b"/>
              <a:pathLst>
                <a:path w="19202400" h="54864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31976" b="-631976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192024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dirty="0">
                  <a:solidFill>
                    <a:srgbClr val="1FB6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Members:  </a:t>
              </a:r>
              <a:r>
                <a:rPr lang="en-US" sz="2000" dirty="0">
                  <a:solidFill>
                    <a:srgbClr val="C9D7E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K.SHASANA.  &amp;    S. SELVA MANI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5528" y="850392"/>
            <a:ext cx="15773400" cy="1028700"/>
            <a:chOff x="0" y="0"/>
            <a:chExt cx="2103120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371600"/>
            </a:xfrm>
            <a:custGeom>
              <a:avLst/>
              <a:gdLst/>
              <a:ahLst/>
              <a:cxnLst/>
              <a:rect l="l" t="t" r="r" b="b"/>
              <a:pathLst>
                <a:path w="21031200" h="13716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770" b="-24877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Healthcare Data is Scattered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3435" y="2390775"/>
            <a:ext cx="2556510" cy="1459230"/>
            <a:chOff x="0" y="0"/>
            <a:chExt cx="3408680" cy="1945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08680" cy="1945640"/>
            </a:xfrm>
            <a:custGeom>
              <a:avLst/>
              <a:gdLst/>
              <a:ahLst/>
              <a:cxnLst/>
              <a:rect l="l" t="t" r="r" b="b"/>
              <a:pathLst>
                <a:path w="3408680" h="1945640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3186303" y="0"/>
                  </a:lnTo>
                  <a:cubicBezTo>
                    <a:pt x="3309112" y="0"/>
                    <a:pt x="3408680" y="99568"/>
                    <a:pt x="3408680" y="222377"/>
                  </a:cubicBezTo>
                  <a:lnTo>
                    <a:pt x="3408680" y="1723263"/>
                  </a:lnTo>
                  <a:cubicBezTo>
                    <a:pt x="3408680" y="1846072"/>
                    <a:pt x="3309112" y="1945640"/>
                    <a:pt x="3186303" y="1945640"/>
                  </a:cubicBezTo>
                  <a:lnTo>
                    <a:pt x="222377" y="1945640"/>
                  </a:lnTo>
                  <a:cubicBezTo>
                    <a:pt x="99568" y="1945640"/>
                    <a:pt x="0" y="1846072"/>
                    <a:pt x="0" y="172326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844802" y="2606040"/>
            <a:ext cx="493776" cy="493776"/>
            <a:chOff x="0" y="0"/>
            <a:chExt cx="658368" cy="658368"/>
          </a:xfrm>
        </p:grpSpPr>
        <p:sp>
          <p:nvSpPr>
            <p:cNvPr id="11" name="Freeform 11" descr="icons/pill_teal.png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32688" y="3157728"/>
            <a:ext cx="2318004" cy="614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Prescriptions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693795" y="2390775"/>
            <a:ext cx="2556510" cy="1459230"/>
            <a:chOff x="0" y="0"/>
            <a:chExt cx="3408680" cy="19456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408680" cy="1945640"/>
            </a:xfrm>
            <a:custGeom>
              <a:avLst/>
              <a:gdLst/>
              <a:ahLst/>
              <a:cxnLst/>
              <a:rect l="l" t="t" r="r" b="b"/>
              <a:pathLst>
                <a:path w="3408680" h="1945640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3186303" y="0"/>
                  </a:lnTo>
                  <a:cubicBezTo>
                    <a:pt x="3309112" y="0"/>
                    <a:pt x="3408680" y="99568"/>
                    <a:pt x="3408680" y="222377"/>
                  </a:cubicBezTo>
                  <a:lnTo>
                    <a:pt x="3408680" y="1723263"/>
                  </a:lnTo>
                  <a:cubicBezTo>
                    <a:pt x="3408680" y="1846072"/>
                    <a:pt x="3309112" y="1945640"/>
                    <a:pt x="3186303" y="1945640"/>
                  </a:cubicBezTo>
                  <a:lnTo>
                    <a:pt x="222377" y="1945640"/>
                  </a:lnTo>
                  <a:cubicBezTo>
                    <a:pt x="99568" y="1945640"/>
                    <a:pt x="0" y="1846072"/>
                    <a:pt x="0" y="172326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725162" y="2606040"/>
            <a:ext cx="493776" cy="493776"/>
            <a:chOff x="0" y="0"/>
            <a:chExt cx="658368" cy="658368"/>
          </a:xfrm>
        </p:grpSpPr>
        <p:sp>
          <p:nvSpPr>
            <p:cNvPr id="16" name="Freeform 16" descr="icons/vial_teal.png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3813048" y="3157728"/>
            <a:ext cx="2318004" cy="614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 Reports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13435" y="4105275"/>
            <a:ext cx="2556510" cy="1459230"/>
            <a:chOff x="0" y="0"/>
            <a:chExt cx="3408680" cy="1945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08680" cy="1945640"/>
            </a:xfrm>
            <a:custGeom>
              <a:avLst/>
              <a:gdLst/>
              <a:ahLst/>
              <a:cxnLst/>
              <a:rect l="l" t="t" r="r" b="b"/>
              <a:pathLst>
                <a:path w="3408680" h="1945640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3186303" y="0"/>
                  </a:lnTo>
                  <a:cubicBezTo>
                    <a:pt x="3309112" y="0"/>
                    <a:pt x="3408680" y="99568"/>
                    <a:pt x="3408680" y="222377"/>
                  </a:cubicBezTo>
                  <a:lnTo>
                    <a:pt x="3408680" y="1723263"/>
                  </a:lnTo>
                  <a:cubicBezTo>
                    <a:pt x="3408680" y="1846072"/>
                    <a:pt x="3309112" y="1945640"/>
                    <a:pt x="3186303" y="1945640"/>
                  </a:cubicBezTo>
                  <a:lnTo>
                    <a:pt x="222377" y="1945640"/>
                  </a:lnTo>
                  <a:cubicBezTo>
                    <a:pt x="99568" y="1945640"/>
                    <a:pt x="0" y="1846072"/>
                    <a:pt x="0" y="172326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844802" y="4320540"/>
            <a:ext cx="493776" cy="493776"/>
            <a:chOff x="0" y="0"/>
            <a:chExt cx="658368" cy="658368"/>
          </a:xfrm>
        </p:grpSpPr>
        <p:sp>
          <p:nvSpPr>
            <p:cNvPr id="21" name="Freeform 21" descr="icons/stethoscope_teal.png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932688" y="4872228"/>
            <a:ext cx="2318004" cy="614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Visit Notes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693795" y="4105275"/>
            <a:ext cx="2556510" cy="1459230"/>
            <a:chOff x="0" y="0"/>
            <a:chExt cx="3408680" cy="19456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408680" cy="1945640"/>
            </a:xfrm>
            <a:custGeom>
              <a:avLst/>
              <a:gdLst/>
              <a:ahLst/>
              <a:cxnLst/>
              <a:rect l="l" t="t" r="r" b="b"/>
              <a:pathLst>
                <a:path w="3408680" h="1945640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3186303" y="0"/>
                  </a:lnTo>
                  <a:cubicBezTo>
                    <a:pt x="3309112" y="0"/>
                    <a:pt x="3408680" y="99568"/>
                    <a:pt x="3408680" y="222377"/>
                  </a:cubicBezTo>
                  <a:lnTo>
                    <a:pt x="3408680" y="1723263"/>
                  </a:lnTo>
                  <a:cubicBezTo>
                    <a:pt x="3408680" y="1846072"/>
                    <a:pt x="3309112" y="1945640"/>
                    <a:pt x="3186303" y="1945640"/>
                  </a:cubicBezTo>
                  <a:lnTo>
                    <a:pt x="222377" y="1945640"/>
                  </a:lnTo>
                  <a:cubicBezTo>
                    <a:pt x="99568" y="1945640"/>
                    <a:pt x="0" y="1846072"/>
                    <a:pt x="0" y="172326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4725162" y="4320540"/>
            <a:ext cx="493776" cy="493776"/>
            <a:chOff x="0" y="0"/>
            <a:chExt cx="658368" cy="658368"/>
          </a:xfrm>
        </p:grpSpPr>
        <p:sp>
          <p:nvSpPr>
            <p:cNvPr id="26" name="Freeform 26" descr="icons/calendar_teal.png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3813048" y="4872228"/>
            <a:ext cx="2318004" cy="614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Follow-Up Reminders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253615" y="5819775"/>
            <a:ext cx="2556510" cy="1459230"/>
            <a:chOff x="0" y="0"/>
            <a:chExt cx="3408680" cy="1945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08680" cy="1945640"/>
            </a:xfrm>
            <a:custGeom>
              <a:avLst/>
              <a:gdLst/>
              <a:ahLst/>
              <a:cxnLst/>
              <a:rect l="l" t="t" r="r" b="b"/>
              <a:pathLst>
                <a:path w="3408680" h="1945640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3186303" y="0"/>
                  </a:lnTo>
                  <a:cubicBezTo>
                    <a:pt x="3309112" y="0"/>
                    <a:pt x="3408680" y="99568"/>
                    <a:pt x="3408680" y="222377"/>
                  </a:cubicBezTo>
                  <a:lnTo>
                    <a:pt x="3408680" y="1723263"/>
                  </a:lnTo>
                  <a:cubicBezTo>
                    <a:pt x="3408680" y="1846072"/>
                    <a:pt x="3309112" y="1945640"/>
                    <a:pt x="3186303" y="1945640"/>
                  </a:cubicBezTo>
                  <a:lnTo>
                    <a:pt x="222377" y="1945640"/>
                  </a:lnTo>
                  <a:cubicBezTo>
                    <a:pt x="99568" y="1945640"/>
                    <a:pt x="0" y="1846072"/>
                    <a:pt x="0" y="172326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3284982" y="6035040"/>
            <a:ext cx="493776" cy="493776"/>
            <a:chOff x="0" y="0"/>
            <a:chExt cx="658368" cy="658368"/>
          </a:xfrm>
        </p:grpSpPr>
        <p:sp>
          <p:nvSpPr>
            <p:cNvPr id="31" name="Freeform 31" descr="icons/filemedical_teal.png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2372868" y="6586728"/>
            <a:ext cx="2318004" cy="614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Medical Documents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240780" y="4594860"/>
            <a:ext cx="960120" cy="219456"/>
            <a:chOff x="0" y="0"/>
            <a:chExt cx="1280160" cy="29260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80160" cy="292608"/>
            </a:xfrm>
            <a:custGeom>
              <a:avLst/>
              <a:gdLst/>
              <a:ahLst/>
              <a:cxnLst/>
              <a:rect l="l" t="t" r="r" b="b"/>
              <a:pathLst>
                <a:path w="1280160" h="292608">
                  <a:moveTo>
                    <a:pt x="0" y="73152"/>
                  </a:moveTo>
                  <a:lnTo>
                    <a:pt x="1133856" y="73152"/>
                  </a:lnTo>
                  <a:lnTo>
                    <a:pt x="1133856" y="0"/>
                  </a:lnTo>
                  <a:lnTo>
                    <a:pt x="1280160" y="146304"/>
                  </a:lnTo>
                  <a:lnTo>
                    <a:pt x="1133856" y="292608"/>
                  </a:lnTo>
                  <a:lnTo>
                    <a:pt x="11338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0F8B8D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7543800" y="2537460"/>
            <a:ext cx="4114800" cy="4869180"/>
            <a:chOff x="0" y="0"/>
            <a:chExt cx="5486400" cy="64922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486400" cy="6492240"/>
            </a:xfrm>
            <a:custGeom>
              <a:avLst/>
              <a:gdLst/>
              <a:ahLst/>
              <a:cxnLst/>
              <a:rect l="l" t="t" r="r" b="b"/>
              <a:pathLst>
                <a:path w="5486400" h="6492240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5193792" y="0"/>
                  </a:lnTo>
                  <a:cubicBezTo>
                    <a:pt x="5355463" y="0"/>
                    <a:pt x="5486400" y="130937"/>
                    <a:pt x="5486400" y="292608"/>
                  </a:cubicBezTo>
                  <a:lnTo>
                    <a:pt x="5486400" y="6199632"/>
                  </a:lnTo>
                  <a:cubicBezTo>
                    <a:pt x="5486400" y="6361176"/>
                    <a:pt x="5355463" y="6492240"/>
                    <a:pt x="5193792" y="6492240"/>
                  </a:cubicBezTo>
                  <a:lnTo>
                    <a:pt x="292608" y="6492240"/>
                  </a:lnTo>
                  <a:cubicBezTo>
                    <a:pt x="130937" y="6492240"/>
                    <a:pt x="0" y="6361303"/>
                    <a:pt x="0" y="619963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052560" y="2948940"/>
            <a:ext cx="1097280" cy="1097280"/>
            <a:chOff x="0" y="0"/>
            <a:chExt cx="1463040" cy="14630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F3E52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9299448" y="3195828"/>
            <a:ext cx="603504" cy="603504"/>
            <a:chOff x="0" y="0"/>
            <a:chExt cx="804672" cy="804672"/>
          </a:xfrm>
        </p:grpSpPr>
        <p:sp>
          <p:nvSpPr>
            <p:cNvPr id="40" name="Freeform 40" descr="icons/usershield_teal.png"/>
            <p:cNvSpPr/>
            <p:nvPr/>
          </p:nvSpPr>
          <p:spPr>
            <a:xfrm>
              <a:off x="0" y="0"/>
              <a:ext cx="804672" cy="804672"/>
            </a:xfrm>
            <a:custGeom>
              <a:avLst/>
              <a:gdLst/>
              <a:ahLst/>
              <a:cxnLst/>
              <a:rect l="l" t="t" r="r" b="b"/>
              <a:pathLst>
                <a:path w="804672" h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7680960" y="4251960"/>
            <a:ext cx="3840480" cy="548640"/>
            <a:chOff x="0" y="0"/>
            <a:chExt cx="5120640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120640" cy="731520"/>
            </a:xfrm>
            <a:custGeom>
              <a:avLst/>
              <a:gdLst/>
              <a:ahLst/>
              <a:cxnLst/>
              <a:rect l="l" t="t" r="r" b="b"/>
              <a:pathLst>
                <a:path w="5120640" h="73152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Single Patient View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749540" y="4800600"/>
            <a:ext cx="3703320" cy="822960"/>
            <a:chOff x="0" y="0"/>
            <a:chExt cx="4937760" cy="10972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937760" cy="1097280"/>
            </a:xfrm>
            <a:custGeom>
              <a:avLst/>
              <a:gdLst/>
              <a:ahLst/>
              <a:cxnLst/>
              <a:rect l="l" t="t" r="r" b="b"/>
              <a:pathLst>
                <a:path w="4937760" h="1097280">
                  <a:moveTo>
                    <a:pt x="0" y="0"/>
                  </a:moveTo>
                  <a:lnTo>
                    <a:pt x="4937760" y="0"/>
                  </a:lnTo>
                  <a:lnTo>
                    <a:pt x="4937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93776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9F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Organized • Chronological • Access-controlled</a:t>
              </a:r>
            </a:p>
          </p:txBody>
        </p:sp>
      </p:grpSp>
      <p:sp>
        <p:nvSpPr>
          <p:cNvPr id="47" name="AutoShape 47"/>
          <p:cNvSpPr/>
          <p:nvPr/>
        </p:nvSpPr>
        <p:spPr>
          <a:xfrm rot="19020">
            <a:off x="7877146" y="5824538"/>
            <a:ext cx="3448107" cy="0"/>
          </a:xfrm>
          <a:prstGeom prst="line">
            <a:avLst/>
          </a:prstGeom>
          <a:ln w="9525" cap="rnd">
            <a:solidFill>
              <a:srgbClr val="24476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8" name="Group 48"/>
          <p:cNvGrpSpPr/>
          <p:nvPr/>
        </p:nvGrpSpPr>
        <p:grpSpPr>
          <a:xfrm>
            <a:off x="7818120" y="6103620"/>
            <a:ext cx="3566160" cy="1097280"/>
            <a:chOff x="0" y="0"/>
            <a:chExt cx="4754880" cy="14630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754880" cy="1463040"/>
            </a:xfrm>
            <a:custGeom>
              <a:avLst/>
              <a:gdLst/>
              <a:ahLst/>
              <a:cxnLst/>
              <a:rect l="l" t="t" r="r" b="b"/>
              <a:pathLst>
                <a:path w="4754880" h="146304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326" b="-1332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475488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i="1">
                  <a:solidFill>
                    <a:srgbClr val="C9D7E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But sensitive medical records must stay accessible only to authorized users.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22960" y="7338060"/>
            <a:ext cx="10904220" cy="1577340"/>
            <a:chOff x="0" y="0"/>
            <a:chExt cx="14538960" cy="21031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4538961" cy="2103120"/>
            </a:xfrm>
            <a:custGeom>
              <a:avLst/>
              <a:gdLst/>
              <a:ahLst/>
              <a:cxnLst/>
              <a:rect l="l" t="t" r="r" b="b"/>
              <a:pathLst>
                <a:path w="14538961" h="21031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4356080" y="0"/>
                  </a:lnTo>
                  <a:cubicBezTo>
                    <a:pt x="14457045" y="0"/>
                    <a:pt x="14538961" y="81915"/>
                    <a:pt x="14538961" y="182880"/>
                  </a:cubicBezTo>
                  <a:lnTo>
                    <a:pt x="14538961" y="1920240"/>
                  </a:lnTo>
                  <a:cubicBezTo>
                    <a:pt x="14538961" y="2021205"/>
                    <a:pt x="14457045" y="2103120"/>
                    <a:pt x="1435608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165860" y="7516368"/>
            <a:ext cx="4114800" cy="384048"/>
            <a:chOff x="0" y="0"/>
            <a:chExt cx="5486400" cy="51206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486400" cy="512064"/>
            </a:xfrm>
            <a:custGeom>
              <a:avLst/>
              <a:gdLst/>
              <a:ahLst/>
              <a:cxnLst/>
              <a:rect l="l" t="t" r="r" b="b"/>
              <a:pathLst>
                <a:path w="5486400" h="512064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68" b="-158768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28575"/>
              <a:ext cx="54864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Problem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65860" y="7889748"/>
            <a:ext cx="10149840" cy="88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5243B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Patients need a single place to organize their health information — while sensitive medical records stay accessible only to authorized users.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2138660" y="7338060"/>
            <a:ext cx="5349240" cy="1577340"/>
            <a:chOff x="0" y="0"/>
            <a:chExt cx="7132320" cy="210312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132320" cy="2103120"/>
            </a:xfrm>
            <a:custGeom>
              <a:avLst/>
              <a:gdLst/>
              <a:ahLst/>
              <a:cxnLst/>
              <a:rect l="l" t="t" r="r" b="b"/>
              <a:pathLst>
                <a:path w="7132320" h="21031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49440" y="0"/>
                  </a:lnTo>
                  <a:cubicBezTo>
                    <a:pt x="7050405" y="0"/>
                    <a:pt x="7132320" y="81915"/>
                    <a:pt x="7132320" y="182880"/>
                  </a:cubicBezTo>
                  <a:lnTo>
                    <a:pt x="7132320" y="1920240"/>
                  </a:lnTo>
                  <a:cubicBezTo>
                    <a:pt x="7132320" y="2021205"/>
                    <a:pt x="7050405" y="2103120"/>
                    <a:pt x="694944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2412980" y="7708392"/>
            <a:ext cx="411480" cy="411480"/>
            <a:chOff x="0" y="0"/>
            <a:chExt cx="548640" cy="548640"/>
          </a:xfrm>
        </p:grpSpPr>
        <p:sp>
          <p:nvSpPr>
            <p:cNvPr id="60" name="Freeform 60" descr="icons/lock_teal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12961620" y="7543800"/>
            <a:ext cx="4389120" cy="1165860"/>
            <a:chOff x="0" y="0"/>
            <a:chExt cx="5852160" cy="15544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852160" cy="1554480"/>
            </a:xfrm>
            <a:custGeom>
              <a:avLst/>
              <a:gdLst/>
              <a:ahLst/>
              <a:cxnLst/>
              <a:rect l="l" t="t" r="r" b="b"/>
              <a:pathLst>
                <a:path w="5852160" h="1554480">
                  <a:moveTo>
                    <a:pt x="0" y="0"/>
                  </a:moveTo>
                  <a:lnTo>
                    <a:pt x="5852160" y="0"/>
                  </a:lnTo>
                  <a:lnTo>
                    <a:pt x="58521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355" b="-23355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5852160" cy="1564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i="1">
                  <a:solidFill>
                    <a:srgbClr val="FFFFFF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“Convenience without</a:t>
              </a:r>
            </a:p>
            <a:p>
              <a:pPr algn="l">
                <a:lnSpc>
                  <a:spcPts val="2340"/>
                </a:lnSpc>
              </a:pPr>
              <a:r>
                <a:rPr lang="en-US" sz="1950" b="1" i="1">
                  <a:solidFill>
                    <a:srgbClr val="FFFFFF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compromising privacy.”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22960" y="9793224"/>
            <a:ext cx="8229600" cy="384048"/>
            <a:chOff x="0" y="0"/>
            <a:chExt cx="10972800" cy="51206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28575"/>
              <a:ext cx="109728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HEALTHVAULT  |  URAN 2026  |  HT-05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6500348" y="9793224"/>
            <a:ext cx="1234440" cy="384048"/>
            <a:chOff x="0" y="0"/>
            <a:chExt cx="1645920" cy="51206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645920" cy="512064"/>
            </a:xfrm>
            <a:custGeom>
              <a:avLst/>
              <a:gdLst/>
              <a:ahLst/>
              <a:cxnLst/>
              <a:rect l="l" t="t" r="r" b="b"/>
              <a:pathLst>
                <a:path w="1645920" h="512064">
                  <a:moveTo>
                    <a:pt x="0" y="0"/>
                  </a:moveTo>
                  <a:lnTo>
                    <a:pt x="1645920" y="0"/>
                  </a:lnTo>
                  <a:lnTo>
                    <a:pt x="1645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30" b="-12630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28575"/>
              <a:ext cx="164592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/ 10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5528" y="850392"/>
            <a:ext cx="15773400" cy="1028700"/>
            <a:chOff x="0" y="0"/>
            <a:chExt cx="2103120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371600"/>
            </a:xfrm>
            <a:custGeom>
              <a:avLst/>
              <a:gdLst/>
              <a:ahLst/>
              <a:cxnLst/>
              <a:rect l="l" t="t" r="r" b="b"/>
              <a:pathLst>
                <a:path w="21031200" h="13716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770" b="-24877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Introducing HEALTHVAULT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78530" y="3890010"/>
            <a:ext cx="2781300" cy="2781300"/>
            <a:chOff x="0" y="0"/>
            <a:chExt cx="3708400" cy="3708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08400" cy="3708400"/>
            </a:xfrm>
            <a:custGeom>
              <a:avLst/>
              <a:gdLst/>
              <a:ahLst/>
              <a:cxnLst/>
              <a:rect l="l" t="t" r="r" b="b"/>
              <a:pathLst>
                <a:path w="3708400" h="3708400">
                  <a:moveTo>
                    <a:pt x="0" y="1854200"/>
                  </a:moveTo>
                  <a:cubicBezTo>
                    <a:pt x="0" y="830199"/>
                    <a:pt x="830199" y="0"/>
                    <a:pt x="1854200" y="0"/>
                  </a:cubicBezTo>
                  <a:cubicBezTo>
                    <a:pt x="2878201" y="0"/>
                    <a:pt x="3708400" y="830199"/>
                    <a:pt x="3708400" y="1854200"/>
                  </a:cubicBezTo>
                  <a:cubicBezTo>
                    <a:pt x="3708400" y="2878201"/>
                    <a:pt x="2878201" y="3708400"/>
                    <a:pt x="1854200" y="3708400"/>
                  </a:cubicBezTo>
                  <a:cubicBezTo>
                    <a:pt x="830199" y="3708400"/>
                    <a:pt x="0" y="2878201"/>
                    <a:pt x="0" y="1854200"/>
                  </a:cubicBezTo>
                  <a:close/>
                </a:path>
              </a:pathLst>
            </a:custGeom>
            <a:solidFill>
              <a:srgbClr val="0B1F3A"/>
            </a:solidFill>
            <a:ln w="38100" cap="sq">
              <a:solidFill>
                <a:srgbClr val="0F8B8D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402836" y="4594860"/>
            <a:ext cx="932688" cy="932688"/>
            <a:chOff x="0" y="0"/>
            <a:chExt cx="1243584" cy="1243584"/>
          </a:xfrm>
        </p:grpSpPr>
        <p:sp>
          <p:nvSpPr>
            <p:cNvPr id="11" name="Freeform 11" descr="icons/shield_teal.png"/>
            <p:cNvSpPr/>
            <p:nvPr/>
          </p:nvSpPr>
          <p:spPr>
            <a:xfrm>
              <a:off x="0" y="0"/>
              <a:ext cx="1243584" cy="1243584"/>
            </a:xfrm>
            <a:custGeom>
              <a:avLst/>
              <a:gdLst/>
              <a:ahLst/>
              <a:cxnLst/>
              <a:rect l="l" t="t" r="r" b="b"/>
              <a:pathLst>
                <a:path w="1243584" h="1243584">
                  <a:moveTo>
                    <a:pt x="0" y="0"/>
                  </a:moveTo>
                  <a:lnTo>
                    <a:pt x="1243584" y="0"/>
                  </a:lnTo>
                  <a:lnTo>
                    <a:pt x="1243584" y="1243584"/>
                  </a:lnTo>
                  <a:lnTo>
                    <a:pt x="0" y="124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3497580" y="5664708"/>
            <a:ext cx="2743200" cy="411480"/>
            <a:chOff x="0" y="0"/>
            <a:chExt cx="3657600" cy="5486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57600" cy="548640"/>
            </a:xfrm>
            <a:custGeom>
              <a:avLst/>
              <a:gdLst/>
              <a:ahLst/>
              <a:cxnLst/>
              <a:rect l="l" t="t" r="r" b="b"/>
              <a:pathLst>
                <a:path w="3657600" h="54864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HEALTHVAULT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425815" y="2390775"/>
            <a:ext cx="4545330" cy="1322070"/>
            <a:chOff x="0" y="0"/>
            <a:chExt cx="6060440" cy="17627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060440" cy="1762760"/>
            </a:xfrm>
            <a:custGeom>
              <a:avLst/>
              <a:gdLst/>
              <a:ahLst/>
              <a:cxnLst/>
              <a:rect l="l" t="t" r="r" b="b"/>
              <a:pathLst>
                <a:path w="6060440" h="176276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5874893" y="0"/>
                  </a:lnTo>
                  <a:cubicBezTo>
                    <a:pt x="5977382" y="0"/>
                    <a:pt x="6060440" y="83058"/>
                    <a:pt x="6060440" y="185547"/>
                  </a:cubicBezTo>
                  <a:lnTo>
                    <a:pt x="6060440" y="1577213"/>
                  </a:lnTo>
                  <a:cubicBezTo>
                    <a:pt x="6060440" y="1679702"/>
                    <a:pt x="5977382" y="1762760"/>
                    <a:pt x="5874893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682228" y="2708910"/>
            <a:ext cx="685800" cy="685800"/>
            <a:chOff x="0" y="0"/>
            <a:chExt cx="914400" cy="914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846820" y="2873502"/>
            <a:ext cx="356616" cy="356616"/>
            <a:chOff x="0" y="0"/>
            <a:chExt cx="475488" cy="475488"/>
          </a:xfrm>
        </p:grpSpPr>
        <p:sp>
          <p:nvSpPr>
            <p:cNvPr id="20" name="Freeform 20" descr="icons/lock_teal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9532620" y="2400300"/>
            <a:ext cx="3223260" cy="1303020"/>
            <a:chOff x="0" y="0"/>
            <a:chExt cx="4297680" cy="17373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97680" cy="1737360"/>
            </a:xfrm>
            <a:custGeom>
              <a:avLst/>
              <a:gdLst/>
              <a:ahLst/>
              <a:cxnLst/>
              <a:rect l="l" t="t" r="r" b="b"/>
              <a:pathLst>
                <a:path w="4297680" h="1737360">
                  <a:moveTo>
                    <a:pt x="0" y="0"/>
                  </a:moveTo>
                  <a:lnTo>
                    <a:pt x="4297680" y="0"/>
                  </a:lnTo>
                  <a:lnTo>
                    <a:pt x="42976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67" r="-186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297680" cy="1775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Secure Login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294995" y="2390775"/>
            <a:ext cx="4545330" cy="1322070"/>
            <a:chOff x="0" y="0"/>
            <a:chExt cx="6060440" cy="17627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060440" cy="1762760"/>
            </a:xfrm>
            <a:custGeom>
              <a:avLst/>
              <a:gdLst/>
              <a:ahLst/>
              <a:cxnLst/>
              <a:rect l="l" t="t" r="r" b="b"/>
              <a:pathLst>
                <a:path w="6060440" h="176276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5874893" y="0"/>
                  </a:lnTo>
                  <a:cubicBezTo>
                    <a:pt x="5977382" y="0"/>
                    <a:pt x="6060440" y="83058"/>
                    <a:pt x="6060440" y="185547"/>
                  </a:cubicBezTo>
                  <a:lnTo>
                    <a:pt x="6060440" y="1577213"/>
                  </a:lnTo>
                  <a:cubicBezTo>
                    <a:pt x="6060440" y="1679702"/>
                    <a:pt x="5977382" y="1762760"/>
                    <a:pt x="5874893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3551408" y="2708910"/>
            <a:ext cx="685800" cy="685800"/>
            <a:chOff x="0" y="0"/>
            <a:chExt cx="914400" cy="914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3716000" y="2873502"/>
            <a:ext cx="356616" cy="356616"/>
            <a:chOff x="0" y="0"/>
            <a:chExt cx="475488" cy="475488"/>
          </a:xfrm>
        </p:grpSpPr>
        <p:sp>
          <p:nvSpPr>
            <p:cNvPr id="29" name="Freeform 29" descr="icons/user_teal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4401800" y="2400300"/>
            <a:ext cx="3223260" cy="1303020"/>
            <a:chOff x="0" y="0"/>
            <a:chExt cx="4297680" cy="17373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297680" cy="1737360"/>
            </a:xfrm>
            <a:custGeom>
              <a:avLst/>
              <a:gdLst/>
              <a:ahLst/>
              <a:cxnLst/>
              <a:rect l="l" t="t" r="r" b="b"/>
              <a:pathLst>
                <a:path w="4297680" h="1737360">
                  <a:moveTo>
                    <a:pt x="0" y="0"/>
                  </a:moveTo>
                  <a:lnTo>
                    <a:pt x="4297680" y="0"/>
                  </a:lnTo>
                  <a:lnTo>
                    <a:pt x="42976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67" r="-1867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297680" cy="1775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Profile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425815" y="3872103"/>
            <a:ext cx="4545330" cy="1322070"/>
            <a:chOff x="0" y="0"/>
            <a:chExt cx="6060440" cy="17627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060440" cy="1762760"/>
            </a:xfrm>
            <a:custGeom>
              <a:avLst/>
              <a:gdLst/>
              <a:ahLst/>
              <a:cxnLst/>
              <a:rect l="l" t="t" r="r" b="b"/>
              <a:pathLst>
                <a:path w="6060440" h="176276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5874893" y="0"/>
                  </a:lnTo>
                  <a:cubicBezTo>
                    <a:pt x="5977382" y="0"/>
                    <a:pt x="6060440" y="83058"/>
                    <a:pt x="6060440" y="185547"/>
                  </a:cubicBezTo>
                  <a:lnTo>
                    <a:pt x="6060440" y="1577213"/>
                  </a:lnTo>
                  <a:cubicBezTo>
                    <a:pt x="6060440" y="1679702"/>
                    <a:pt x="5977382" y="1762760"/>
                    <a:pt x="5874893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8682228" y="4190238"/>
            <a:ext cx="685800" cy="685800"/>
            <a:chOff x="0" y="0"/>
            <a:chExt cx="914400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8846820" y="4354830"/>
            <a:ext cx="356616" cy="356616"/>
            <a:chOff x="0" y="0"/>
            <a:chExt cx="475488" cy="475488"/>
          </a:xfrm>
        </p:grpSpPr>
        <p:sp>
          <p:nvSpPr>
            <p:cNvPr id="38" name="Freeform 38" descr="icons/filemedical_teal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9532620" y="3881628"/>
            <a:ext cx="3223260" cy="1303020"/>
            <a:chOff x="0" y="0"/>
            <a:chExt cx="4297680" cy="17373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297680" cy="1737360"/>
            </a:xfrm>
            <a:custGeom>
              <a:avLst/>
              <a:gdLst/>
              <a:ahLst/>
              <a:cxnLst/>
              <a:rect l="l" t="t" r="r" b="b"/>
              <a:pathLst>
                <a:path w="4297680" h="1737360">
                  <a:moveTo>
                    <a:pt x="0" y="0"/>
                  </a:moveTo>
                  <a:lnTo>
                    <a:pt x="4297680" y="0"/>
                  </a:lnTo>
                  <a:lnTo>
                    <a:pt x="42976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67" r="-1867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4297680" cy="1775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 Record Creation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294995" y="3872103"/>
            <a:ext cx="4545330" cy="1322070"/>
            <a:chOff x="0" y="0"/>
            <a:chExt cx="6060440" cy="17627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060440" cy="1762760"/>
            </a:xfrm>
            <a:custGeom>
              <a:avLst/>
              <a:gdLst/>
              <a:ahLst/>
              <a:cxnLst/>
              <a:rect l="l" t="t" r="r" b="b"/>
              <a:pathLst>
                <a:path w="6060440" h="176276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5874893" y="0"/>
                  </a:lnTo>
                  <a:cubicBezTo>
                    <a:pt x="5977382" y="0"/>
                    <a:pt x="6060440" y="83058"/>
                    <a:pt x="6060440" y="185547"/>
                  </a:cubicBezTo>
                  <a:lnTo>
                    <a:pt x="6060440" y="1577213"/>
                  </a:lnTo>
                  <a:cubicBezTo>
                    <a:pt x="6060440" y="1679702"/>
                    <a:pt x="5977382" y="1762760"/>
                    <a:pt x="5874893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3551408" y="4190238"/>
            <a:ext cx="685800" cy="685800"/>
            <a:chOff x="0" y="0"/>
            <a:chExt cx="914400" cy="9144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3716000" y="4354830"/>
            <a:ext cx="356616" cy="356616"/>
            <a:chOff x="0" y="0"/>
            <a:chExt cx="475488" cy="475488"/>
          </a:xfrm>
        </p:grpSpPr>
        <p:sp>
          <p:nvSpPr>
            <p:cNvPr id="47" name="Freeform 47" descr="icons/upload_teal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14401800" y="3881628"/>
            <a:ext cx="3223260" cy="1303020"/>
            <a:chOff x="0" y="0"/>
            <a:chExt cx="4297680" cy="173736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297680" cy="1737360"/>
            </a:xfrm>
            <a:custGeom>
              <a:avLst/>
              <a:gdLst/>
              <a:ahLst/>
              <a:cxnLst/>
              <a:rect l="l" t="t" r="r" b="b"/>
              <a:pathLst>
                <a:path w="4297680" h="1737360">
                  <a:moveTo>
                    <a:pt x="0" y="0"/>
                  </a:moveTo>
                  <a:lnTo>
                    <a:pt x="4297680" y="0"/>
                  </a:lnTo>
                  <a:lnTo>
                    <a:pt x="42976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67" r="-1867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4297680" cy="1775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 Document Upload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425815" y="5353431"/>
            <a:ext cx="4545330" cy="1322070"/>
            <a:chOff x="0" y="0"/>
            <a:chExt cx="6060440" cy="176276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060440" cy="1762760"/>
            </a:xfrm>
            <a:custGeom>
              <a:avLst/>
              <a:gdLst/>
              <a:ahLst/>
              <a:cxnLst/>
              <a:rect l="l" t="t" r="r" b="b"/>
              <a:pathLst>
                <a:path w="6060440" h="176276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5874893" y="0"/>
                  </a:lnTo>
                  <a:cubicBezTo>
                    <a:pt x="5977382" y="0"/>
                    <a:pt x="6060440" y="83058"/>
                    <a:pt x="6060440" y="185547"/>
                  </a:cubicBezTo>
                  <a:lnTo>
                    <a:pt x="6060440" y="1577213"/>
                  </a:lnTo>
                  <a:cubicBezTo>
                    <a:pt x="6060440" y="1679702"/>
                    <a:pt x="5977382" y="1762760"/>
                    <a:pt x="5874893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8682228" y="5671566"/>
            <a:ext cx="685800" cy="685800"/>
            <a:chOff x="0" y="0"/>
            <a:chExt cx="914400" cy="9144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8846820" y="5836158"/>
            <a:ext cx="356616" cy="356616"/>
            <a:chOff x="0" y="0"/>
            <a:chExt cx="475488" cy="475488"/>
          </a:xfrm>
        </p:grpSpPr>
        <p:sp>
          <p:nvSpPr>
            <p:cNvPr id="56" name="Freeform 56" descr="icons/bell_navy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9532620" y="5362956"/>
            <a:ext cx="3223260" cy="1303020"/>
            <a:chOff x="0" y="0"/>
            <a:chExt cx="4297680" cy="173736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297680" cy="1737360"/>
            </a:xfrm>
            <a:custGeom>
              <a:avLst/>
              <a:gdLst/>
              <a:ahLst/>
              <a:cxnLst/>
              <a:rect l="l" t="t" r="r" b="b"/>
              <a:pathLst>
                <a:path w="4297680" h="1737360">
                  <a:moveTo>
                    <a:pt x="0" y="0"/>
                  </a:moveTo>
                  <a:lnTo>
                    <a:pt x="4297680" y="0"/>
                  </a:lnTo>
                  <a:lnTo>
                    <a:pt x="42976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67" r="-1867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4297680" cy="1775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Follow-Up Management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294995" y="5353431"/>
            <a:ext cx="4545330" cy="1322070"/>
            <a:chOff x="0" y="0"/>
            <a:chExt cx="6060440" cy="176276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060440" cy="1762760"/>
            </a:xfrm>
            <a:custGeom>
              <a:avLst/>
              <a:gdLst/>
              <a:ahLst/>
              <a:cxnLst/>
              <a:rect l="l" t="t" r="r" b="b"/>
              <a:pathLst>
                <a:path w="6060440" h="176276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5874893" y="0"/>
                  </a:lnTo>
                  <a:cubicBezTo>
                    <a:pt x="5977382" y="0"/>
                    <a:pt x="6060440" y="83058"/>
                    <a:pt x="6060440" y="185547"/>
                  </a:cubicBezTo>
                  <a:lnTo>
                    <a:pt x="6060440" y="1577213"/>
                  </a:lnTo>
                  <a:cubicBezTo>
                    <a:pt x="6060440" y="1679702"/>
                    <a:pt x="5977382" y="1762760"/>
                    <a:pt x="5874893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3551408" y="5671566"/>
            <a:ext cx="685800" cy="685800"/>
            <a:chOff x="0" y="0"/>
            <a:chExt cx="914400" cy="9144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13716000" y="5836158"/>
            <a:ext cx="356616" cy="356616"/>
            <a:chOff x="0" y="0"/>
            <a:chExt cx="475488" cy="475488"/>
          </a:xfrm>
        </p:grpSpPr>
        <p:sp>
          <p:nvSpPr>
            <p:cNvPr id="65" name="Freeform 65" descr="icons/usershield_teal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66" name="Group 66"/>
          <p:cNvGrpSpPr/>
          <p:nvPr/>
        </p:nvGrpSpPr>
        <p:grpSpPr>
          <a:xfrm>
            <a:off x="14401800" y="5362956"/>
            <a:ext cx="3223260" cy="1303020"/>
            <a:chOff x="0" y="0"/>
            <a:chExt cx="4297680" cy="173736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297680" cy="1737360"/>
            </a:xfrm>
            <a:custGeom>
              <a:avLst/>
              <a:gdLst/>
              <a:ahLst/>
              <a:cxnLst/>
              <a:rect l="l" t="t" r="r" b="b"/>
              <a:pathLst>
                <a:path w="4297680" h="1737360">
                  <a:moveTo>
                    <a:pt x="0" y="0"/>
                  </a:moveTo>
                  <a:lnTo>
                    <a:pt x="4297680" y="0"/>
                  </a:lnTo>
                  <a:lnTo>
                    <a:pt x="42976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67" r="-1867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4297680" cy="1775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Role-Based Access Control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425815" y="6834759"/>
            <a:ext cx="4545330" cy="1322070"/>
            <a:chOff x="0" y="0"/>
            <a:chExt cx="6060440" cy="176276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6060440" cy="1762760"/>
            </a:xfrm>
            <a:custGeom>
              <a:avLst/>
              <a:gdLst/>
              <a:ahLst/>
              <a:cxnLst/>
              <a:rect l="l" t="t" r="r" b="b"/>
              <a:pathLst>
                <a:path w="6060440" h="176276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5874893" y="0"/>
                  </a:lnTo>
                  <a:cubicBezTo>
                    <a:pt x="5977382" y="0"/>
                    <a:pt x="6060440" y="83058"/>
                    <a:pt x="6060440" y="185547"/>
                  </a:cubicBezTo>
                  <a:lnTo>
                    <a:pt x="6060440" y="1577213"/>
                  </a:lnTo>
                  <a:cubicBezTo>
                    <a:pt x="6060440" y="1679702"/>
                    <a:pt x="5977382" y="1762760"/>
                    <a:pt x="5874893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8682228" y="7152894"/>
            <a:ext cx="685800" cy="685800"/>
            <a:chOff x="0" y="0"/>
            <a:chExt cx="914400" cy="9144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8846820" y="7317486"/>
            <a:ext cx="356616" cy="356616"/>
            <a:chOff x="0" y="0"/>
            <a:chExt cx="475488" cy="475488"/>
          </a:xfrm>
        </p:grpSpPr>
        <p:sp>
          <p:nvSpPr>
            <p:cNvPr id="74" name="Freeform 74" descr="icons/history_teal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9532620" y="6844284"/>
            <a:ext cx="3223260" cy="1303020"/>
            <a:chOff x="0" y="0"/>
            <a:chExt cx="4297680" cy="173736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297680" cy="1737360"/>
            </a:xfrm>
            <a:custGeom>
              <a:avLst/>
              <a:gdLst/>
              <a:ahLst/>
              <a:cxnLst/>
              <a:rect l="l" t="t" r="r" b="b"/>
              <a:pathLst>
                <a:path w="4297680" h="1737360">
                  <a:moveTo>
                    <a:pt x="0" y="0"/>
                  </a:moveTo>
                  <a:lnTo>
                    <a:pt x="4297680" y="0"/>
                  </a:lnTo>
                  <a:lnTo>
                    <a:pt x="42976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67" r="-1867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4297680" cy="1775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 Logging</a:t>
              </a:r>
            </a:p>
          </p:txBody>
        </p:sp>
      </p:grpSp>
      <p:sp>
        <p:nvSpPr>
          <p:cNvPr id="78" name="AutoShape 78"/>
          <p:cNvSpPr/>
          <p:nvPr/>
        </p:nvSpPr>
        <p:spPr>
          <a:xfrm rot="44160">
            <a:off x="6226397" y="5271135"/>
            <a:ext cx="2223316" cy="0"/>
          </a:xfrm>
          <a:prstGeom prst="line">
            <a:avLst/>
          </a:prstGeom>
          <a:ln w="19050" cap="rnd">
            <a:solidFill>
              <a:srgbClr val="DCE7E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9" name="Group 79"/>
          <p:cNvGrpSpPr/>
          <p:nvPr/>
        </p:nvGrpSpPr>
        <p:grpSpPr>
          <a:xfrm>
            <a:off x="822960" y="9258300"/>
            <a:ext cx="13030200" cy="480060"/>
            <a:chOff x="0" y="0"/>
            <a:chExt cx="17373600" cy="64008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7373600" cy="640080"/>
            </a:xfrm>
            <a:custGeom>
              <a:avLst/>
              <a:gdLst/>
              <a:ahLst/>
              <a:cxnLst/>
              <a:rect l="l" t="t" r="r" b="b"/>
              <a:pathLst>
                <a:path w="17373600" h="640080">
                  <a:moveTo>
                    <a:pt x="0" y="0"/>
                  </a:moveTo>
                  <a:lnTo>
                    <a:pt x="17373600" y="0"/>
                  </a:lnTo>
                  <a:lnTo>
                    <a:pt x="1737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8879" b="-478879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173736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>
                  <a:solidFill>
                    <a:srgbClr val="5A6B7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single, secure dashboard connecting every part of a patient's health journey.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22960" y="9793224"/>
            <a:ext cx="8229600" cy="384048"/>
            <a:chOff x="0" y="0"/>
            <a:chExt cx="10972800" cy="51206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28575"/>
              <a:ext cx="109728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HEALTHVAULT  |  URAN 2026  |  HT-05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6500348" y="9793224"/>
            <a:ext cx="1234440" cy="384048"/>
            <a:chOff x="0" y="0"/>
            <a:chExt cx="1645920" cy="512064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645920" cy="512064"/>
            </a:xfrm>
            <a:custGeom>
              <a:avLst/>
              <a:gdLst/>
              <a:ahLst/>
              <a:cxnLst/>
              <a:rect l="l" t="t" r="r" b="b"/>
              <a:pathLst>
                <a:path w="1645920" h="512064">
                  <a:moveTo>
                    <a:pt x="0" y="0"/>
                  </a:moveTo>
                  <a:lnTo>
                    <a:pt x="1645920" y="0"/>
                  </a:lnTo>
                  <a:lnTo>
                    <a:pt x="1645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30" b="-12630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28575"/>
              <a:ext cx="164592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 / 10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5528" y="850392"/>
            <a:ext cx="15773400" cy="1028700"/>
            <a:chOff x="0" y="0"/>
            <a:chExt cx="2103120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371600"/>
            </a:xfrm>
            <a:custGeom>
              <a:avLst/>
              <a:gdLst/>
              <a:ahLst/>
              <a:cxnLst/>
              <a:rect l="l" t="t" r="r" b="b"/>
              <a:pathLst>
                <a:path w="21031200" h="13716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770" b="-24877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Simple for Patients. Controlled for Providers.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82015" y="2665095"/>
            <a:ext cx="3516630" cy="2076450"/>
            <a:chOff x="0" y="0"/>
            <a:chExt cx="4688840" cy="2768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88840" cy="2768600"/>
            </a:xfrm>
            <a:custGeom>
              <a:avLst/>
              <a:gdLst/>
              <a:ahLst/>
              <a:cxnLst/>
              <a:rect l="l" t="t" r="r" b="b"/>
              <a:pathLst>
                <a:path w="4688840" h="276860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4467352" y="0"/>
                  </a:lnTo>
                  <a:cubicBezTo>
                    <a:pt x="4589653" y="0"/>
                    <a:pt x="4688840" y="99187"/>
                    <a:pt x="4688840" y="221488"/>
                  </a:cubicBezTo>
                  <a:lnTo>
                    <a:pt x="4688840" y="2547112"/>
                  </a:lnTo>
                  <a:cubicBezTo>
                    <a:pt x="4688840" y="2669413"/>
                    <a:pt x="4589653" y="2768600"/>
                    <a:pt x="4467352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99516" y="2482596"/>
            <a:ext cx="466344" cy="466344"/>
            <a:chOff x="0" y="0"/>
            <a:chExt cx="621792" cy="6217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93776" y="0"/>
                  </a:lnTo>
                  <a:cubicBezTo>
                    <a:pt x="564515" y="0"/>
                    <a:pt x="621792" y="57277"/>
                    <a:pt x="621792" y="128016"/>
                  </a:cubicBezTo>
                  <a:lnTo>
                    <a:pt x="621792" y="493776"/>
                  </a:lnTo>
                  <a:cubicBezTo>
                    <a:pt x="621792" y="564515"/>
                    <a:pt x="564515" y="621792"/>
                    <a:pt x="493776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0F8B8D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699516" y="2482596"/>
            <a:ext cx="466344" cy="466344"/>
            <a:chOff x="0" y="0"/>
            <a:chExt cx="621792" cy="6217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56282" y="2921508"/>
            <a:ext cx="768096" cy="768096"/>
            <a:chOff x="0" y="0"/>
            <a:chExt cx="1024128" cy="10241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2434590" y="3099816"/>
            <a:ext cx="411480" cy="411480"/>
            <a:chOff x="0" y="0"/>
            <a:chExt cx="548640" cy="548640"/>
          </a:xfrm>
        </p:grpSpPr>
        <p:sp>
          <p:nvSpPr>
            <p:cNvPr id="18" name="Freeform 18" descr="icons/lock_teal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960120" y="3771900"/>
            <a:ext cx="3360420" cy="754380"/>
            <a:chOff x="0" y="0"/>
            <a:chExt cx="4480560" cy="10058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480560" cy="1005840"/>
            </a:xfrm>
            <a:custGeom>
              <a:avLst/>
              <a:gdLst/>
              <a:ahLst/>
              <a:cxnLst/>
              <a:rect l="l" t="t" r="r" b="b"/>
              <a:pathLst>
                <a:path w="4480560" h="100584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96" b="-36796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448056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82015" y="2665095"/>
            <a:ext cx="3516630" cy="2076450"/>
            <a:chOff x="0" y="0"/>
            <a:chExt cx="4688840" cy="2768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688840" cy="2768600"/>
            </a:xfrm>
            <a:custGeom>
              <a:avLst/>
              <a:gdLst/>
              <a:ahLst/>
              <a:cxnLst/>
              <a:rect l="l" t="t" r="r" b="b"/>
              <a:pathLst>
                <a:path w="4688840" h="276860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4467352" y="0"/>
                  </a:lnTo>
                  <a:cubicBezTo>
                    <a:pt x="4589653" y="0"/>
                    <a:pt x="4688840" y="99187"/>
                    <a:pt x="4688840" y="221488"/>
                  </a:cubicBezTo>
                  <a:lnTo>
                    <a:pt x="4688840" y="2547112"/>
                  </a:lnTo>
                  <a:cubicBezTo>
                    <a:pt x="4688840" y="2669413"/>
                    <a:pt x="4589653" y="2768600"/>
                    <a:pt x="4467352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99516" y="2482596"/>
            <a:ext cx="466344" cy="466344"/>
            <a:chOff x="0" y="0"/>
            <a:chExt cx="621792" cy="62179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93776" y="0"/>
                  </a:lnTo>
                  <a:cubicBezTo>
                    <a:pt x="564515" y="0"/>
                    <a:pt x="621792" y="57277"/>
                    <a:pt x="621792" y="128016"/>
                  </a:cubicBezTo>
                  <a:lnTo>
                    <a:pt x="621792" y="493776"/>
                  </a:lnTo>
                  <a:cubicBezTo>
                    <a:pt x="621792" y="564515"/>
                    <a:pt x="564515" y="621792"/>
                    <a:pt x="493776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0F8B8D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699516" y="2482596"/>
            <a:ext cx="466344" cy="466344"/>
            <a:chOff x="0" y="0"/>
            <a:chExt cx="621792" cy="6217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256282" y="2921508"/>
            <a:ext cx="768096" cy="768096"/>
            <a:chOff x="0" y="0"/>
            <a:chExt cx="1024128" cy="102412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2434590" y="3099816"/>
            <a:ext cx="411480" cy="411480"/>
            <a:chOff x="0" y="0"/>
            <a:chExt cx="548640" cy="548640"/>
          </a:xfrm>
        </p:grpSpPr>
        <p:sp>
          <p:nvSpPr>
            <p:cNvPr id="32" name="Freeform 32" descr="icons/lock_teal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960120" y="3771900"/>
            <a:ext cx="3360420" cy="754380"/>
            <a:chOff x="0" y="0"/>
            <a:chExt cx="4480560" cy="10058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480560" cy="1005840"/>
            </a:xfrm>
            <a:custGeom>
              <a:avLst/>
              <a:gdLst/>
              <a:ahLst/>
              <a:cxnLst/>
              <a:rect l="l" t="t" r="r" b="b"/>
              <a:pathLst>
                <a:path w="4480560" h="100584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96" b="-36796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448056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457700" y="3593592"/>
            <a:ext cx="342900" cy="219456"/>
            <a:chOff x="0" y="0"/>
            <a:chExt cx="457200" cy="29260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57200" cy="292608"/>
            </a:xfrm>
            <a:custGeom>
              <a:avLst/>
              <a:gdLst/>
              <a:ahLst/>
              <a:cxnLst/>
              <a:rect l="l" t="t" r="r" b="b"/>
              <a:pathLst>
                <a:path w="457200" h="292608">
                  <a:moveTo>
                    <a:pt x="0" y="73152"/>
                  </a:moveTo>
                  <a:lnTo>
                    <a:pt x="310896" y="73152"/>
                  </a:lnTo>
                  <a:lnTo>
                    <a:pt x="310896" y="0"/>
                  </a:lnTo>
                  <a:lnTo>
                    <a:pt x="457200" y="146304"/>
                  </a:lnTo>
                  <a:lnTo>
                    <a:pt x="310896" y="292608"/>
                  </a:lnTo>
                  <a:lnTo>
                    <a:pt x="31089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4859655" y="2665095"/>
            <a:ext cx="3516630" cy="2076450"/>
            <a:chOff x="0" y="0"/>
            <a:chExt cx="4688840" cy="2768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688840" cy="2768600"/>
            </a:xfrm>
            <a:custGeom>
              <a:avLst/>
              <a:gdLst/>
              <a:ahLst/>
              <a:cxnLst/>
              <a:rect l="l" t="t" r="r" b="b"/>
              <a:pathLst>
                <a:path w="4688840" h="276860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4467352" y="0"/>
                  </a:lnTo>
                  <a:cubicBezTo>
                    <a:pt x="4589653" y="0"/>
                    <a:pt x="4688840" y="99187"/>
                    <a:pt x="4688840" y="221488"/>
                  </a:cubicBezTo>
                  <a:lnTo>
                    <a:pt x="4688840" y="2547112"/>
                  </a:lnTo>
                  <a:cubicBezTo>
                    <a:pt x="4688840" y="2669413"/>
                    <a:pt x="4589653" y="2768600"/>
                    <a:pt x="4467352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4677156" y="2482596"/>
            <a:ext cx="466344" cy="466344"/>
            <a:chOff x="0" y="0"/>
            <a:chExt cx="621792" cy="62179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93776" y="0"/>
                  </a:lnTo>
                  <a:cubicBezTo>
                    <a:pt x="564515" y="0"/>
                    <a:pt x="621792" y="57277"/>
                    <a:pt x="621792" y="128016"/>
                  </a:cubicBezTo>
                  <a:lnTo>
                    <a:pt x="621792" y="493776"/>
                  </a:lnTo>
                  <a:cubicBezTo>
                    <a:pt x="621792" y="564515"/>
                    <a:pt x="564515" y="621792"/>
                    <a:pt x="493776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0F8B8D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4677156" y="2482596"/>
            <a:ext cx="466344" cy="466344"/>
            <a:chOff x="0" y="0"/>
            <a:chExt cx="621792" cy="62179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33922" y="2921508"/>
            <a:ext cx="768096" cy="768096"/>
            <a:chOff x="0" y="0"/>
            <a:chExt cx="1024128" cy="102412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6412230" y="3099816"/>
            <a:ext cx="411480" cy="411480"/>
            <a:chOff x="0" y="0"/>
            <a:chExt cx="548640" cy="548640"/>
          </a:xfrm>
        </p:grpSpPr>
        <p:sp>
          <p:nvSpPr>
            <p:cNvPr id="48" name="Freeform 48" descr="icons/usershield_teal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4937760" y="3771900"/>
            <a:ext cx="3360420" cy="754380"/>
            <a:chOff x="0" y="0"/>
            <a:chExt cx="4480560" cy="10058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480560" cy="1005840"/>
            </a:xfrm>
            <a:custGeom>
              <a:avLst/>
              <a:gdLst/>
              <a:ahLst/>
              <a:cxnLst/>
              <a:rect l="l" t="t" r="r" b="b"/>
              <a:pathLst>
                <a:path w="4480560" h="100584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96" b="-36796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448056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Identification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59655" y="2665095"/>
            <a:ext cx="3516630" cy="2076450"/>
            <a:chOff x="0" y="0"/>
            <a:chExt cx="4688840" cy="27686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688840" cy="2768600"/>
            </a:xfrm>
            <a:custGeom>
              <a:avLst/>
              <a:gdLst/>
              <a:ahLst/>
              <a:cxnLst/>
              <a:rect l="l" t="t" r="r" b="b"/>
              <a:pathLst>
                <a:path w="4688840" h="276860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4467352" y="0"/>
                  </a:lnTo>
                  <a:cubicBezTo>
                    <a:pt x="4589653" y="0"/>
                    <a:pt x="4688840" y="99187"/>
                    <a:pt x="4688840" y="221488"/>
                  </a:cubicBezTo>
                  <a:lnTo>
                    <a:pt x="4688840" y="2547112"/>
                  </a:lnTo>
                  <a:cubicBezTo>
                    <a:pt x="4688840" y="2669413"/>
                    <a:pt x="4589653" y="2768600"/>
                    <a:pt x="4467352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4677156" y="2482596"/>
            <a:ext cx="466344" cy="466344"/>
            <a:chOff x="0" y="0"/>
            <a:chExt cx="621792" cy="62179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93776" y="0"/>
                  </a:lnTo>
                  <a:cubicBezTo>
                    <a:pt x="564515" y="0"/>
                    <a:pt x="621792" y="57277"/>
                    <a:pt x="621792" y="128016"/>
                  </a:cubicBezTo>
                  <a:lnTo>
                    <a:pt x="621792" y="493776"/>
                  </a:lnTo>
                  <a:cubicBezTo>
                    <a:pt x="621792" y="564515"/>
                    <a:pt x="564515" y="621792"/>
                    <a:pt x="493776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0F8B8D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4677156" y="2482596"/>
            <a:ext cx="466344" cy="466344"/>
            <a:chOff x="0" y="0"/>
            <a:chExt cx="621792" cy="62179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233922" y="2921508"/>
            <a:ext cx="768096" cy="768096"/>
            <a:chOff x="0" y="0"/>
            <a:chExt cx="1024128" cy="102412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6412230" y="3099816"/>
            <a:ext cx="411480" cy="411480"/>
            <a:chOff x="0" y="0"/>
            <a:chExt cx="548640" cy="548640"/>
          </a:xfrm>
        </p:grpSpPr>
        <p:sp>
          <p:nvSpPr>
            <p:cNvPr id="62" name="Freeform 62" descr="icons/usershield_teal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4937760" y="3771900"/>
            <a:ext cx="3360420" cy="754380"/>
            <a:chOff x="0" y="0"/>
            <a:chExt cx="4480560" cy="10058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480560" cy="1005840"/>
            </a:xfrm>
            <a:custGeom>
              <a:avLst/>
              <a:gdLst/>
              <a:ahLst/>
              <a:cxnLst/>
              <a:rect l="l" t="t" r="r" b="b"/>
              <a:pathLst>
                <a:path w="4480560" h="100584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96" b="-36796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448056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Identification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435340" y="3593592"/>
            <a:ext cx="342900" cy="219456"/>
            <a:chOff x="0" y="0"/>
            <a:chExt cx="457200" cy="29260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57200" cy="292608"/>
            </a:xfrm>
            <a:custGeom>
              <a:avLst/>
              <a:gdLst/>
              <a:ahLst/>
              <a:cxnLst/>
              <a:rect l="l" t="t" r="r" b="b"/>
              <a:pathLst>
                <a:path w="457200" h="292608">
                  <a:moveTo>
                    <a:pt x="0" y="73152"/>
                  </a:moveTo>
                  <a:lnTo>
                    <a:pt x="310896" y="73152"/>
                  </a:lnTo>
                  <a:lnTo>
                    <a:pt x="310896" y="0"/>
                  </a:lnTo>
                  <a:lnTo>
                    <a:pt x="457200" y="146304"/>
                  </a:lnTo>
                  <a:lnTo>
                    <a:pt x="310896" y="292608"/>
                  </a:lnTo>
                  <a:lnTo>
                    <a:pt x="31089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8837295" y="2665095"/>
            <a:ext cx="3516630" cy="2076450"/>
            <a:chOff x="0" y="0"/>
            <a:chExt cx="4688840" cy="27686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688840" cy="2768600"/>
            </a:xfrm>
            <a:custGeom>
              <a:avLst/>
              <a:gdLst/>
              <a:ahLst/>
              <a:cxnLst/>
              <a:rect l="l" t="t" r="r" b="b"/>
              <a:pathLst>
                <a:path w="4688840" h="276860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4467352" y="0"/>
                  </a:lnTo>
                  <a:cubicBezTo>
                    <a:pt x="4589653" y="0"/>
                    <a:pt x="4688840" y="99187"/>
                    <a:pt x="4688840" y="221488"/>
                  </a:cubicBezTo>
                  <a:lnTo>
                    <a:pt x="4688840" y="2547112"/>
                  </a:lnTo>
                  <a:cubicBezTo>
                    <a:pt x="4688840" y="2669413"/>
                    <a:pt x="4589653" y="2768600"/>
                    <a:pt x="4467352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654796" y="2482596"/>
            <a:ext cx="466344" cy="466344"/>
            <a:chOff x="0" y="0"/>
            <a:chExt cx="621792" cy="62179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93776" y="0"/>
                  </a:lnTo>
                  <a:cubicBezTo>
                    <a:pt x="564515" y="0"/>
                    <a:pt x="621792" y="57277"/>
                    <a:pt x="621792" y="128016"/>
                  </a:cubicBezTo>
                  <a:lnTo>
                    <a:pt x="621792" y="493776"/>
                  </a:lnTo>
                  <a:cubicBezTo>
                    <a:pt x="621792" y="564515"/>
                    <a:pt x="564515" y="621792"/>
                    <a:pt x="493776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0F8B8D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8654796" y="2482596"/>
            <a:ext cx="466344" cy="466344"/>
            <a:chOff x="0" y="0"/>
            <a:chExt cx="621792" cy="62179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0211562" y="2921508"/>
            <a:ext cx="768096" cy="768096"/>
            <a:chOff x="0" y="0"/>
            <a:chExt cx="1024128" cy="102412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0389870" y="3099816"/>
            <a:ext cx="411480" cy="411480"/>
            <a:chOff x="0" y="0"/>
            <a:chExt cx="548640" cy="548640"/>
          </a:xfrm>
        </p:grpSpPr>
        <p:sp>
          <p:nvSpPr>
            <p:cNvPr id="78" name="Freeform 78" descr="icons/user_teal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79" name="Group 79"/>
          <p:cNvGrpSpPr/>
          <p:nvPr/>
        </p:nvGrpSpPr>
        <p:grpSpPr>
          <a:xfrm>
            <a:off x="8915400" y="3771900"/>
            <a:ext cx="3360420" cy="754380"/>
            <a:chOff x="0" y="0"/>
            <a:chExt cx="4480560" cy="100584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480560" cy="1005840"/>
            </a:xfrm>
            <a:custGeom>
              <a:avLst/>
              <a:gdLst/>
              <a:ahLst/>
              <a:cxnLst/>
              <a:rect l="l" t="t" r="r" b="b"/>
              <a:pathLst>
                <a:path w="4480560" h="100584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96" b="-36796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448056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/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Provider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837295" y="2665095"/>
            <a:ext cx="3516630" cy="2076450"/>
            <a:chOff x="0" y="0"/>
            <a:chExt cx="4688840" cy="27686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688840" cy="2768600"/>
            </a:xfrm>
            <a:custGeom>
              <a:avLst/>
              <a:gdLst/>
              <a:ahLst/>
              <a:cxnLst/>
              <a:rect l="l" t="t" r="r" b="b"/>
              <a:pathLst>
                <a:path w="4688840" h="276860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4467352" y="0"/>
                  </a:lnTo>
                  <a:cubicBezTo>
                    <a:pt x="4589653" y="0"/>
                    <a:pt x="4688840" y="99187"/>
                    <a:pt x="4688840" y="221488"/>
                  </a:cubicBezTo>
                  <a:lnTo>
                    <a:pt x="4688840" y="2547112"/>
                  </a:lnTo>
                  <a:cubicBezTo>
                    <a:pt x="4688840" y="2669413"/>
                    <a:pt x="4589653" y="2768600"/>
                    <a:pt x="4467352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8654796" y="2482596"/>
            <a:ext cx="466344" cy="466344"/>
            <a:chOff x="0" y="0"/>
            <a:chExt cx="621792" cy="621792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93776" y="0"/>
                  </a:lnTo>
                  <a:cubicBezTo>
                    <a:pt x="564515" y="0"/>
                    <a:pt x="621792" y="57277"/>
                    <a:pt x="621792" y="128016"/>
                  </a:cubicBezTo>
                  <a:lnTo>
                    <a:pt x="621792" y="493776"/>
                  </a:lnTo>
                  <a:cubicBezTo>
                    <a:pt x="621792" y="564515"/>
                    <a:pt x="564515" y="621792"/>
                    <a:pt x="493776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0F8B8D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8654796" y="2482596"/>
            <a:ext cx="466344" cy="466344"/>
            <a:chOff x="0" y="0"/>
            <a:chExt cx="621792" cy="62179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0211562" y="2921508"/>
            <a:ext cx="768096" cy="768096"/>
            <a:chOff x="0" y="0"/>
            <a:chExt cx="1024128" cy="102412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10389870" y="3099816"/>
            <a:ext cx="411480" cy="411480"/>
            <a:chOff x="0" y="0"/>
            <a:chExt cx="548640" cy="548640"/>
          </a:xfrm>
        </p:grpSpPr>
        <p:sp>
          <p:nvSpPr>
            <p:cNvPr id="92" name="Freeform 92" descr="icons/user_teal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3" name="Group 93"/>
          <p:cNvGrpSpPr/>
          <p:nvPr/>
        </p:nvGrpSpPr>
        <p:grpSpPr>
          <a:xfrm>
            <a:off x="8915400" y="3771900"/>
            <a:ext cx="3360420" cy="754380"/>
            <a:chOff x="0" y="0"/>
            <a:chExt cx="4480560" cy="100584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4480560" cy="1005840"/>
            </a:xfrm>
            <a:custGeom>
              <a:avLst/>
              <a:gdLst/>
              <a:ahLst/>
              <a:cxnLst/>
              <a:rect l="l" t="t" r="r" b="b"/>
              <a:pathLst>
                <a:path w="4480560" h="100584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96" b="-36796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19050"/>
              <a:ext cx="448056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/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Provider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2412980" y="3593592"/>
            <a:ext cx="342900" cy="219456"/>
            <a:chOff x="0" y="0"/>
            <a:chExt cx="457200" cy="292608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457200" cy="292608"/>
            </a:xfrm>
            <a:custGeom>
              <a:avLst/>
              <a:gdLst/>
              <a:ahLst/>
              <a:cxnLst/>
              <a:rect l="l" t="t" r="r" b="b"/>
              <a:pathLst>
                <a:path w="457200" h="292608">
                  <a:moveTo>
                    <a:pt x="0" y="73152"/>
                  </a:moveTo>
                  <a:lnTo>
                    <a:pt x="310896" y="73152"/>
                  </a:lnTo>
                  <a:lnTo>
                    <a:pt x="310896" y="0"/>
                  </a:lnTo>
                  <a:lnTo>
                    <a:pt x="457200" y="146304"/>
                  </a:lnTo>
                  <a:lnTo>
                    <a:pt x="310896" y="292608"/>
                  </a:lnTo>
                  <a:lnTo>
                    <a:pt x="31089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98" name="Group 98"/>
          <p:cNvGrpSpPr/>
          <p:nvPr/>
        </p:nvGrpSpPr>
        <p:grpSpPr>
          <a:xfrm>
            <a:off x="12814935" y="2665095"/>
            <a:ext cx="3516630" cy="2076450"/>
            <a:chOff x="0" y="0"/>
            <a:chExt cx="4688840" cy="276860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4688840" cy="2768600"/>
            </a:xfrm>
            <a:custGeom>
              <a:avLst/>
              <a:gdLst/>
              <a:ahLst/>
              <a:cxnLst/>
              <a:rect l="l" t="t" r="r" b="b"/>
              <a:pathLst>
                <a:path w="4688840" h="276860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4467352" y="0"/>
                  </a:lnTo>
                  <a:cubicBezTo>
                    <a:pt x="4589653" y="0"/>
                    <a:pt x="4688840" y="99187"/>
                    <a:pt x="4688840" y="221488"/>
                  </a:cubicBezTo>
                  <a:lnTo>
                    <a:pt x="4688840" y="2547112"/>
                  </a:lnTo>
                  <a:cubicBezTo>
                    <a:pt x="4688840" y="2669413"/>
                    <a:pt x="4589653" y="2768600"/>
                    <a:pt x="4467352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00" name="Group 100"/>
          <p:cNvGrpSpPr/>
          <p:nvPr/>
        </p:nvGrpSpPr>
        <p:grpSpPr>
          <a:xfrm>
            <a:off x="12632436" y="2482596"/>
            <a:ext cx="466344" cy="466344"/>
            <a:chOff x="0" y="0"/>
            <a:chExt cx="621792" cy="621792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93776" y="0"/>
                  </a:lnTo>
                  <a:cubicBezTo>
                    <a:pt x="564515" y="0"/>
                    <a:pt x="621792" y="57277"/>
                    <a:pt x="621792" y="128016"/>
                  </a:cubicBezTo>
                  <a:lnTo>
                    <a:pt x="621792" y="493776"/>
                  </a:lnTo>
                  <a:cubicBezTo>
                    <a:pt x="621792" y="564515"/>
                    <a:pt x="564515" y="621792"/>
                    <a:pt x="493776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0F8B8D"/>
            </a:solidFill>
          </p:spPr>
        </p:sp>
      </p:grpSp>
      <p:grpSp>
        <p:nvGrpSpPr>
          <p:cNvPr id="102" name="Group 102"/>
          <p:cNvGrpSpPr/>
          <p:nvPr/>
        </p:nvGrpSpPr>
        <p:grpSpPr>
          <a:xfrm>
            <a:off x="12632436" y="2482596"/>
            <a:ext cx="466344" cy="466344"/>
            <a:chOff x="0" y="0"/>
            <a:chExt cx="621792" cy="621792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4189202" y="2921508"/>
            <a:ext cx="768096" cy="768096"/>
            <a:chOff x="0" y="0"/>
            <a:chExt cx="1024128" cy="1024128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107" name="Group 107"/>
          <p:cNvGrpSpPr/>
          <p:nvPr/>
        </p:nvGrpSpPr>
        <p:grpSpPr>
          <a:xfrm>
            <a:off x="14367510" y="3099816"/>
            <a:ext cx="411480" cy="411480"/>
            <a:chOff x="0" y="0"/>
            <a:chExt cx="548640" cy="548640"/>
          </a:xfrm>
        </p:grpSpPr>
        <p:sp>
          <p:nvSpPr>
            <p:cNvPr id="108" name="Freeform 108" descr="icons/filemedical_teal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09" name="Group 109"/>
          <p:cNvGrpSpPr/>
          <p:nvPr/>
        </p:nvGrpSpPr>
        <p:grpSpPr>
          <a:xfrm>
            <a:off x="12893040" y="3771900"/>
            <a:ext cx="3360420" cy="754380"/>
            <a:chOff x="0" y="0"/>
            <a:chExt cx="4480560" cy="100584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4480560" cy="1005840"/>
            </a:xfrm>
            <a:custGeom>
              <a:avLst/>
              <a:gdLst/>
              <a:ahLst/>
              <a:cxnLst/>
              <a:rect l="l" t="t" r="r" b="b"/>
              <a:pathLst>
                <a:path w="4480560" h="100584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96" b="-36796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19050"/>
              <a:ext cx="448056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Records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2814935" y="2665095"/>
            <a:ext cx="3516630" cy="2076450"/>
            <a:chOff x="0" y="0"/>
            <a:chExt cx="4688840" cy="276860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4688840" cy="2768600"/>
            </a:xfrm>
            <a:custGeom>
              <a:avLst/>
              <a:gdLst/>
              <a:ahLst/>
              <a:cxnLst/>
              <a:rect l="l" t="t" r="r" b="b"/>
              <a:pathLst>
                <a:path w="4688840" h="276860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4467352" y="0"/>
                  </a:lnTo>
                  <a:cubicBezTo>
                    <a:pt x="4589653" y="0"/>
                    <a:pt x="4688840" y="99187"/>
                    <a:pt x="4688840" y="221488"/>
                  </a:cubicBezTo>
                  <a:lnTo>
                    <a:pt x="4688840" y="2547112"/>
                  </a:lnTo>
                  <a:cubicBezTo>
                    <a:pt x="4688840" y="2669413"/>
                    <a:pt x="4589653" y="2768600"/>
                    <a:pt x="4467352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14" name="Group 114"/>
          <p:cNvGrpSpPr/>
          <p:nvPr/>
        </p:nvGrpSpPr>
        <p:grpSpPr>
          <a:xfrm>
            <a:off x="12632436" y="2482596"/>
            <a:ext cx="466344" cy="466344"/>
            <a:chOff x="0" y="0"/>
            <a:chExt cx="621792" cy="621792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93776" y="0"/>
                  </a:lnTo>
                  <a:cubicBezTo>
                    <a:pt x="564515" y="0"/>
                    <a:pt x="621792" y="57277"/>
                    <a:pt x="621792" y="128016"/>
                  </a:cubicBezTo>
                  <a:lnTo>
                    <a:pt x="621792" y="493776"/>
                  </a:lnTo>
                  <a:cubicBezTo>
                    <a:pt x="621792" y="564515"/>
                    <a:pt x="564515" y="621792"/>
                    <a:pt x="493776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0F8B8D"/>
            </a:solidFill>
          </p:spPr>
        </p:sp>
      </p:grpSp>
      <p:grpSp>
        <p:nvGrpSpPr>
          <p:cNvPr id="116" name="Group 116"/>
          <p:cNvGrpSpPr/>
          <p:nvPr/>
        </p:nvGrpSpPr>
        <p:grpSpPr>
          <a:xfrm>
            <a:off x="12632436" y="2482596"/>
            <a:ext cx="466344" cy="466344"/>
            <a:chOff x="0" y="0"/>
            <a:chExt cx="621792" cy="621792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4189202" y="2921508"/>
            <a:ext cx="768096" cy="768096"/>
            <a:chOff x="0" y="0"/>
            <a:chExt cx="1024128" cy="1024128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121" name="Group 121"/>
          <p:cNvGrpSpPr/>
          <p:nvPr/>
        </p:nvGrpSpPr>
        <p:grpSpPr>
          <a:xfrm>
            <a:off x="14367510" y="3099816"/>
            <a:ext cx="411480" cy="411480"/>
            <a:chOff x="0" y="0"/>
            <a:chExt cx="548640" cy="548640"/>
          </a:xfrm>
        </p:grpSpPr>
        <p:sp>
          <p:nvSpPr>
            <p:cNvPr id="122" name="Freeform 122" descr="icons/filemedical_teal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23" name="Group 123"/>
          <p:cNvGrpSpPr/>
          <p:nvPr/>
        </p:nvGrpSpPr>
        <p:grpSpPr>
          <a:xfrm>
            <a:off x="12893040" y="3771900"/>
            <a:ext cx="3360420" cy="754380"/>
            <a:chOff x="0" y="0"/>
            <a:chExt cx="4480560" cy="1005840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4480560" cy="1005840"/>
            </a:xfrm>
            <a:custGeom>
              <a:avLst/>
              <a:gdLst/>
              <a:ahLst/>
              <a:cxnLst/>
              <a:rect l="l" t="t" r="r" b="b"/>
              <a:pathLst>
                <a:path w="4480560" h="100584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96" b="-36796"/>
              </a:stretch>
            </a:blipFill>
          </p:spPr>
        </p:sp>
        <p:sp>
          <p:nvSpPr>
            <p:cNvPr id="125" name="TextBox 125"/>
            <p:cNvSpPr txBox="1"/>
            <p:nvPr/>
          </p:nvSpPr>
          <p:spPr>
            <a:xfrm>
              <a:off x="0" y="-19050"/>
              <a:ext cx="448056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Records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15979140" y="4814316"/>
            <a:ext cx="411480" cy="438912"/>
            <a:chOff x="0" y="0"/>
            <a:chExt cx="548640" cy="585216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548640" cy="585216"/>
            </a:xfrm>
            <a:custGeom>
              <a:avLst/>
              <a:gdLst/>
              <a:ahLst/>
              <a:cxnLst/>
              <a:rect l="l" t="t" r="r" b="b"/>
              <a:pathLst>
                <a:path w="548640" h="585216">
                  <a:moveTo>
                    <a:pt x="0" y="310896"/>
                  </a:moveTo>
                  <a:lnTo>
                    <a:pt x="137160" y="310896"/>
                  </a:lnTo>
                  <a:lnTo>
                    <a:pt x="137160" y="0"/>
                  </a:lnTo>
                  <a:lnTo>
                    <a:pt x="411480" y="0"/>
                  </a:lnTo>
                  <a:lnTo>
                    <a:pt x="411480" y="310896"/>
                  </a:lnTo>
                  <a:lnTo>
                    <a:pt x="548640" y="310896"/>
                  </a:lnTo>
                  <a:lnTo>
                    <a:pt x="274320" y="585216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128" name="Group 128"/>
          <p:cNvGrpSpPr/>
          <p:nvPr/>
        </p:nvGrpSpPr>
        <p:grpSpPr>
          <a:xfrm>
            <a:off x="882015" y="5956935"/>
            <a:ext cx="3516630" cy="2076450"/>
            <a:chOff x="0" y="0"/>
            <a:chExt cx="4688840" cy="276860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4688840" cy="2768600"/>
            </a:xfrm>
            <a:custGeom>
              <a:avLst/>
              <a:gdLst/>
              <a:ahLst/>
              <a:cxnLst/>
              <a:rect l="l" t="t" r="r" b="b"/>
              <a:pathLst>
                <a:path w="4688840" h="276860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4467352" y="0"/>
                  </a:lnTo>
                  <a:cubicBezTo>
                    <a:pt x="4589653" y="0"/>
                    <a:pt x="4688840" y="99187"/>
                    <a:pt x="4688840" y="221488"/>
                  </a:cubicBezTo>
                  <a:lnTo>
                    <a:pt x="4688840" y="2547112"/>
                  </a:lnTo>
                  <a:cubicBezTo>
                    <a:pt x="4688840" y="2669413"/>
                    <a:pt x="4589653" y="2768600"/>
                    <a:pt x="4467352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30" name="Group 130"/>
          <p:cNvGrpSpPr/>
          <p:nvPr/>
        </p:nvGrpSpPr>
        <p:grpSpPr>
          <a:xfrm>
            <a:off x="699516" y="5774436"/>
            <a:ext cx="466344" cy="466344"/>
            <a:chOff x="0" y="0"/>
            <a:chExt cx="621792" cy="621792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93776" y="0"/>
                  </a:lnTo>
                  <a:cubicBezTo>
                    <a:pt x="564515" y="0"/>
                    <a:pt x="621792" y="57277"/>
                    <a:pt x="621792" y="128016"/>
                  </a:cubicBezTo>
                  <a:lnTo>
                    <a:pt x="621792" y="493776"/>
                  </a:lnTo>
                  <a:cubicBezTo>
                    <a:pt x="621792" y="564515"/>
                    <a:pt x="564515" y="621792"/>
                    <a:pt x="493776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0F8B8D"/>
            </a:solidFill>
          </p:spPr>
        </p:sp>
      </p:grpSp>
      <p:grpSp>
        <p:nvGrpSpPr>
          <p:cNvPr id="132" name="Group 132"/>
          <p:cNvGrpSpPr/>
          <p:nvPr/>
        </p:nvGrpSpPr>
        <p:grpSpPr>
          <a:xfrm>
            <a:off x="699516" y="5774436"/>
            <a:ext cx="466344" cy="466344"/>
            <a:chOff x="0" y="0"/>
            <a:chExt cx="621792" cy="621792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34" name="TextBox 134"/>
            <p:cNvSpPr txBox="1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2256282" y="6213348"/>
            <a:ext cx="768096" cy="768096"/>
            <a:chOff x="0" y="0"/>
            <a:chExt cx="1024128" cy="1024128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137" name="Group 137"/>
          <p:cNvGrpSpPr/>
          <p:nvPr/>
        </p:nvGrpSpPr>
        <p:grpSpPr>
          <a:xfrm>
            <a:off x="2434590" y="6391656"/>
            <a:ext cx="411480" cy="411480"/>
            <a:chOff x="0" y="0"/>
            <a:chExt cx="548640" cy="548640"/>
          </a:xfrm>
        </p:grpSpPr>
        <p:sp>
          <p:nvSpPr>
            <p:cNvPr id="138" name="Freeform 138" descr="icons/upload_teal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39" name="Group 139"/>
          <p:cNvGrpSpPr/>
          <p:nvPr/>
        </p:nvGrpSpPr>
        <p:grpSpPr>
          <a:xfrm>
            <a:off x="960120" y="7063740"/>
            <a:ext cx="3360420" cy="754380"/>
            <a:chOff x="0" y="0"/>
            <a:chExt cx="4480560" cy="1005840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4480560" cy="1005840"/>
            </a:xfrm>
            <a:custGeom>
              <a:avLst/>
              <a:gdLst/>
              <a:ahLst/>
              <a:cxnLst/>
              <a:rect l="l" t="t" r="r" b="b"/>
              <a:pathLst>
                <a:path w="4480560" h="100584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96" b="-36796"/>
              </a:stretch>
            </a:blipFill>
          </p:spPr>
        </p:sp>
        <p:sp>
          <p:nvSpPr>
            <p:cNvPr id="141" name="TextBox 141"/>
            <p:cNvSpPr txBox="1"/>
            <p:nvPr/>
          </p:nvSpPr>
          <p:spPr>
            <a:xfrm>
              <a:off x="0" y="-19050"/>
              <a:ext cx="448056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Create / View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Record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4457700" y="6885432"/>
            <a:ext cx="342900" cy="219456"/>
            <a:chOff x="0" y="0"/>
            <a:chExt cx="457200" cy="292608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457200" cy="292608"/>
            </a:xfrm>
            <a:custGeom>
              <a:avLst/>
              <a:gdLst/>
              <a:ahLst/>
              <a:cxnLst/>
              <a:rect l="l" t="t" r="r" b="b"/>
              <a:pathLst>
                <a:path w="457200" h="292608">
                  <a:moveTo>
                    <a:pt x="0" y="73152"/>
                  </a:moveTo>
                  <a:lnTo>
                    <a:pt x="310896" y="73152"/>
                  </a:lnTo>
                  <a:lnTo>
                    <a:pt x="310896" y="0"/>
                  </a:lnTo>
                  <a:lnTo>
                    <a:pt x="457200" y="146304"/>
                  </a:lnTo>
                  <a:lnTo>
                    <a:pt x="310896" y="292608"/>
                  </a:lnTo>
                  <a:lnTo>
                    <a:pt x="31089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144" name="Group 144"/>
          <p:cNvGrpSpPr/>
          <p:nvPr/>
        </p:nvGrpSpPr>
        <p:grpSpPr>
          <a:xfrm>
            <a:off x="4859655" y="5956935"/>
            <a:ext cx="3516630" cy="2076450"/>
            <a:chOff x="0" y="0"/>
            <a:chExt cx="4688840" cy="2768600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4688840" cy="2768600"/>
            </a:xfrm>
            <a:custGeom>
              <a:avLst/>
              <a:gdLst/>
              <a:ahLst/>
              <a:cxnLst/>
              <a:rect l="l" t="t" r="r" b="b"/>
              <a:pathLst>
                <a:path w="4688840" h="276860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4467352" y="0"/>
                  </a:lnTo>
                  <a:cubicBezTo>
                    <a:pt x="4589653" y="0"/>
                    <a:pt x="4688840" y="99187"/>
                    <a:pt x="4688840" y="221488"/>
                  </a:cubicBezTo>
                  <a:lnTo>
                    <a:pt x="4688840" y="2547112"/>
                  </a:lnTo>
                  <a:cubicBezTo>
                    <a:pt x="4688840" y="2669413"/>
                    <a:pt x="4589653" y="2768600"/>
                    <a:pt x="4467352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46" name="Group 146"/>
          <p:cNvGrpSpPr/>
          <p:nvPr/>
        </p:nvGrpSpPr>
        <p:grpSpPr>
          <a:xfrm>
            <a:off x="4677156" y="5774436"/>
            <a:ext cx="466344" cy="466344"/>
            <a:chOff x="0" y="0"/>
            <a:chExt cx="621792" cy="621792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93776" y="0"/>
                  </a:lnTo>
                  <a:cubicBezTo>
                    <a:pt x="564515" y="0"/>
                    <a:pt x="621792" y="57277"/>
                    <a:pt x="621792" y="128016"/>
                  </a:cubicBezTo>
                  <a:lnTo>
                    <a:pt x="621792" y="493776"/>
                  </a:lnTo>
                  <a:cubicBezTo>
                    <a:pt x="621792" y="564515"/>
                    <a:pt x="564515" y="621792"/>
                    <a:pt x="493776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0F8B8D"/>
            </a:solidFill>
          </p:spPr>
        </p:sp>
      </p:grpSp>
      <p:grpSp>
        <p:nvGrpSpPr>
          <p:cNvPr id="148" name="Group 148"/>
          <p:cNvGrpSpPr/>
          <p:nvPr/>
        </p:nvGrpSpPr>
        <p:grpSpPr>
          <a:xfrm>
            <a:off x="4677156" y="5774436"/>
            <a:ext cx="466344" cy="466344"/>
            <a:chOff x="0" y="0"/>
            <a:chExt cx="621792" cy="621792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50" name="TextBox 150"/>
            <p:cNvSpPr txBox="1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6233922" y="6213348"/>
            <a:ext cx="768096" cy="768096"/>
            <a:chOff x="0" y="0"/>
            <a:chExt cx="1024128" cy="1024128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153" name="Group 153"/>
          <p:cNvGrpSpPr/>
          <p:nvPr/>
        </p:nvGrpSpPr>
        <p:grpSpPr>
          <a:xfrm>
            <a:off x="6412230" y="6391656"/>
            <a:ext cx="411480" cy="411480"/>
            <a:chOff x="0" y="0"/>
            <a:chExt cx="548640" cy="548640"/>
          </a:xfrm>
        </p:grpSpPr>
        <p:sp>
          <p:nvSpPr>
            <p:cNvPr id="154" name="Freeform 154" descr="icons/bell_navy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55" name="Group 155"/>
          <p:cNvGrpSpPr/>
          <p:nvPr/>
        </p:nvGrpSpPr>
        <p:grpSpPr>
          <a:xfrm>
            <a:off x="4937760" y="7063740"/>
            <a:ext cx="3360420" cy="754380"/>
            <a:chOff x="0" y="0"/>
            <a:chExt cx="4480560" cy="1005840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4480560" cy="1005840"/>
            </a:xfrm>
            <a:custGeom>
              <a:avLst/>
              <a:gdLst/>
              <a:ahLst/>
              <a:cxnLst/>
              <a:rect l="l" t="t" r="r" b="b"/>
              <a:pathLst>
                <a:path w="4480560" h="100584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96" b="-36796"/>
              </a:stretch>
            </a:blipFill>
          </p:spPr>
        </p:sp>
        <p:sp>
          <p:nvSpPr>
            <p:cNvPr id="157" name="TextBox 157"/>
            <p:cNvSpPr txBox="1"/>
            <p:nvPr/>
          </p:nvSpPr>
          <p:spPr>
            <a:xfrm>
              <a:off x="0" y="-19050"/>
              <a:ext cx="448056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Follow-Up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Reminder</a:t>
              </a:r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8435340" y="6885432"/>
            <a:ext cx="342900" cy="219456"/>
            <a:chOff x="0" y="0"/>
            <a:chExt cx="457200" cy="292608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457200" cy="292608"/>
            </a:xfrm>
            <a:custGeom>
              <a:avLst/>
              <a:gdLst/>
              <a:ahLst/>
              <a:cxnLst/>
              <a:rect l="l" t="t" r="r" b="b"/>
              <a:pathLst>
                <a:path w="457200" h="292608">
                  <a:moveTo>
                    <a:pt x="0" y="73152"/>
                  </a:moveTo>
                  <a:lnTo>
                    <a:pt x="310896" y="73152"/>
                  </a:lnTo>
                  <a:lnTo>
                    <a:pt x="310896" y="0"/>
                  </a:lnTo>
                  <a:lnTo>
                    <a:pt x="457200" y="146304"/>
                  </a:lnTo>
                  <a:lnTo>
                    <a:pt x="310896" y="292608"/>
                  </a:lnTo>
                  <a:lnTo>
                    <a:pt x="31089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160" name="Group 160"/>
          <p:cNvGrpSpPr/>
          <p:nvPr/>
        </p:nvGrpSpPr>
        <p:grpSpPr>
          <a:xfrm>
            <a:off x="8837295" y="5956935"/>
            <a:ext cx="3516630" cy="2076450"/>
            <a:chOff x="0" y="0"/>
            <a:chExt cx="4688840" cy="2768600"/>
          </a:xfrm>
        </p:grpSpPr>
        <p:sp>
          <p:nvSpPr>
            <p:cNvPr id="161" name="Freeform 161"/>
            <p:cNvSpPr/>
            <p:nvPr/>
          </p:nvSpPr>
          <p:spPr>
            <a:xfrm>
              <a:off x="0" y="0"/>
              <a:ext cx="4688840" cy="2768600"/>
            </a:xfrm>
            <a:custGeom>
              <a:avLst/>
              <a:gdLst/>
              <a:ahLst/>
              <a:cxnLst/>
              <a:rect l="l" t="t" r="r" b="b"/>
              <a:pathLst>
                <a:path w="4688840" h="276860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4467352" y="0"/>
                  </a:lnTo>
                  <a:cubicBezTo>
                    <a:pt x="4589653" y="0"/>
                    <a:pt x="4688840" y="99187"/>
                    <a:pt x="4688840" y="221488"/>
                  </a:cubicBezTo>
                  <a:lnTo>
                    <a:pt x="4688840" y="2547112"/>
                  </a:lnTo>
                  <a:cubicBezTo>
                    <a:pt x="4688840" y="2669413"/>
                    <a:pt x="4589653" y="2768600"/>
                    <a:pt x="4467352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62" name="Group 162"/>
          <p:cNvGrpSpPr/>
          <p:nvPr/>
        </p:nvGrpSpPr>
        <p:grpSpPr>
          <a:xfrm>
            <a:off x="8654796" y="5774436"/>
            <a:ext cx="466344" cy="466344"/>
            <a:chOff x="0" y="0"/>
            <a:chExt cx="621792" cy="621792"/>
          </a:xfrm>
        </p:grpSpPr>
        <p:sp>
          <p:nvSpPr>
            <p:cNvPr id="163" name="Freeform 163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93776" y="0"/>
                  </a:lnTo>
                  <a:cubicBezTo>
                    <a:pt x="564515" y="0"/>
                    <a:pt x="621792" y="57277"/>
                    <a:pt x="621792" y="128016"/>
                  </a:cubicBezTo>
                  <a:lnTo>
                    <a:pt x="621792" y="493776"/>
                  </a:lnTo>
                  <a:cubicBezTo>
                    <a:pt x="621792" y="564515"/>
                    <a:pt x="564515" y="621792"/>
                    <a:pt x="493776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0F8B8D"/>
            </a:solidFill>
          </p:spPr>
        </p:sp>
      </p:grpSp>
      <p:grpSp>
        <p:nvGrpSpPr>
          <p:cNvPr id="164" name="Group 164"/>
          <p:cNvGrpSpPr/>
          <p:nvPr/>
        </p:nvGrpSpPr>
        <p:grpSpPr>
          <a:xfrm>
            <a:off x="8654796" y="5774436"/>
            <a:ext cx="466344" cy="466344"/>
            <a:chOff x="0" y="0"/>
            <a:chExt cx="621792" cy="621792"/>
          </a:xfrm>
        </p:grpSpPr>
        <p:sp>
          <p:nvSpPr>
            <p:cNvPr id="165" name="Freeform 165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66" name="TextBox 166"/>
            <p:cNvSpPr txBox="1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10211562" y="6213348"/>
            <a:ext cx="768096" cy="768096"/>
            <a:chOff x="0" y="0"/>
            <a:chExt cx="1024128" cy="1024128"/>
          </a:xfrm>
        </p:grpSpPr>
        <p:sp>
          <p:nvSpPr>
            <p:cNvPr id="168" name="Freeform 168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169" name="Group 169"/>
          <p:cNvGrpSpPr/>
          <p:nvPr/>
        </p:nvGrpSpPr>
        <p:grpSpPr>
          <a:xfrm>
            <a:off x="10389870" y="6391656"/>
            <a:ext cx="411480" cy="411480"/>
            <a:chOff x="0" y="0"/>
            <a:chExt cx="548640" cy="548640"/>
          </a:xfrm>
        </p:grpSpPr>
        <p:sp>
          <p:nvSpPr>
            <p:cNvPr id="170" name="Freeform 170" descr="icons/history_teal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171" name="Group 171"/>
          <p:cNvGrpSpPr/>
          <p:nvPr/>
        </p:nvGrpSpPr>
        <p:grpSpPr>
          <a:xfrm>
            <a:off x="8915400" y="7063740"/>
            <a:ext cx="3360420" cy="754380"/>
            <a:chOff x="0" y="0"/>
            <a:chExt cx="4480560" cy="1005840"/>
          </a:xfrm>
        </p:grpSpPr>
        <p:sp>
          <p:nvSpPr>
            <p:cNvPr id="172" name="Freeform 172"/>
            <p:cNvSpPr/>
            <p:nvPr/>
          </p:nvSpPr>
          <p:spPr>
            <a:xfrm>
              <a:off x="0" y="0"/>
              <a:ext cx="4480560" cy="1005840"/>
            </a:xfrm>
            <a:custGeom>
              <a:avLst/>
              <a:gdLst/>
              <a:ahLst/>
              <a:cxnLst/>
              <a:rect l="l" t="t" r="r" b="b"/>
              <a:pathLst>
                <a:path w="4480560" h="100584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96" b="-36796"/>
              </a:stretch>
            </a:blipFill>
          </p:spPr>
        </p:sp>
        <p:sp>
          <p:nvSpPr>
            <p:cNvPr id="173" name="TextBox 173"/>
            <p:cNvSpPr txBox="1"/>
            <p:nvPr/>
          </p:nvSpPr>
          <p:spPr>
            <a:xfrm>
              <a:off x="0" y="-19050"/>
              <a:ext cx="448056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 Log</a:t>
              </a:r>
            </a:p>
          </p:txBody>
        </p:sp>
      </p:grpSp>
      <p:grpSp>
        <p:nvGrpSpPr>
          <p:cNvPr id="174" name="Group 174"/>
          <p:cNvGrpSpPr/>
          <p:nvPr/>
        </p:nvGrpSpPr>
        <p:grpSpPr>
          <a:xfrm>
            <a:off x="14196060" y="5966460"/>
            <a:ext cx="3223260" cy="2057400"/>
            <a:chOff x="0" y="0"/>
            <a:chExt cx="4297680" cy="2743200"/>
          </a:xfrm>
        </p:grpSpPr>
        <p:sp>
          <p:nvSpPr>
            <p:cNvPr id="175" name="Freeform 175"/>
            <p:cNvSpPr/>
            <p:nvPr/>
          </p:nvSpPr>
          <p:spPr>
            <a:xfrm>
              <a:off x="0" y="0"/>
              <a:ext cx="4297680" cy="2743200"/>
            </a:xfrm>
            <a:custGeom>
              <a:avLst/>
              <a:gdLst/>
              <a:ahLst/>
              <a:cxnLst/>
              <a:rect l="l" t="t" r="r" b="b"/>
              <a:pathLst>
                <a:path w="4297680" h="2743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078224" y="0"/>
                  </a:lnTo>
                  <a:cubicBezTo>
                    <a:pt x="4199382" y="0"/>
                    <a:pt x="4297680" y="98298"/>
                    <a:pt x="4297680" y="219456"/>
                  </a:cubicBezTo>
                  <a:lnTo>
                    <a:pt x="4297680" y="2523744"/>
                  </a:lnTo>
                  <a:cubicBezTo>
                    <a:pt x="4297680" y="2644902"/>
                    <a:pt x="4199382" y="2743200"/>
                    <a:pt x="4078224" y="2743200"/>
                  </a:cubicBezTo>
                  <a:lnTo>
                    <a:pt x="219456" y="2743200"/>
                  </a:lnTo>
                  <a:cubicBezTo>
                    <a:pt x="98298" y="2743200"/>
                    <a:pt x="0" y="2644902"/>
                    <a:pt x="0" y="2523744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176" name="Group 176"/>
          <p:cNvGrpSpPr/>
          <p:nvPr/>
        </p:nvGrpSpPr>
        <p:grpSpPr>
          <a:xfrm>
            <a:off x="14470380" y="6172200"/>
            <a:ext cx="2743200" cy="1645920"/>
            <a:chOff x="0" y="0"/>
            <a:chExt cx="3657600" cy="2194560"/>
          </a:xfrm>
        </p:grpSpPr>
        <p:sp>
          <p:nvSpPr>
            <p:cNvPr id="177" name="Freeform 177"/>
            <p:cNvSpPr/>
            <p:nvPr/>
          </p:nvSpPr>
          <p:spPr>
            <a:xfrm>
              <a:off x="0" y="0"/>
              <a:ext cx="3657600" cy="2194560"/>
            </a:xfrm>
            <a:custGeom>
              <a:avLst/>
              <a:gdLst/>
              <a:ahLst/>
              <a:cxnLst/>
              <a:rect l="l" t="t" r="r" b="b"/>
              <a:pathLst>
                <a:path w="3657600" h="2194560">
                  <a:moveTo>
                    <a:pt x="0" y="0"/>
                  </a:moveTo>
                  <a:lnTo>
                    <a:pt x="3657600" y="0"/>
                  </a:lnTo>
                  <a:lnTo>
                    <a:pt x="3657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178" name="TextBox 178"/>
            <p:cNvSpPr txBox="1"/>
            <p:nvPr/>
          </p:nvSpPr>
          <p:spPr>
            <a:xfrm>
              <a:off x="0" y="-19050"/>
              <a:ext cx="3657600" cy="2213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i="1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Different roles receive different permissions at every step.</a:t>
              </a:r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822960" y="9793224"/>
            <a:ext cx="8229600" cy="384048"/>
            <a:chOff x="0" y="0"/>
            <a:chExt cx="10972800" cy="512064"/>
          </a:xfrm>
        </p:grpSpPr>
        <p:sp>
          <p:nvSpPr>
            <p:cNvPr id="180" name="Freeform 180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181" name="TextBox 181"/>
            <p:cNvSpPr txBox="1"/>
            <p:nvPr/>
          </p:nvSpPr>
          <p:spPr>
            <a:xfrm>
              <a:off x="0" y="-28575"/>
              <a:ext cx="109728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HEALTHVAULT  |  URAN 2026  |  HT-05</a:t>
              </a:r>
            </a:p>
          </p:txBody>
        </p:sp>
      </p:grpSp>
      <p:grpSp>
        <p:nvGrpSpPr>
          <p:cNvPr id="182" name="Group 182"/>
          <p:cNvGrpSpPr/>
          <p:nvPr/>
        </p:nvGrpSpPr>
        <p:grpSpPr>
          <a:xfrm>
            <a:off x="16500348" y="9793224"/>
            <a:ext cx="1234440" cy="384048"/>
            <a:chOff x="0" y="0"/>
            <a:chExt cx="1645920" cy="512064"/>
          </a:xfrm>
        </p:grpSpPr>
        <p:sp>
          <p:nvSpPr>
            <p:cNvPr id="183" name="Freeform 183"/>
            <p:cNvSpPr/>
            <p:nvPr/>
          </p:nvSpPr>
          <p:spPr>
            <a:xfrm>
              <a:off x="0" y="0"/>
              <a:ext cx="1645920" cy="512064"/>
            </a:xfrm>
            <a:custGeom>
              <a:avLst/>
              <a:gdLst/>
              <a:ahLst/>
              <a:cxnLst/>
              <a:rect l="l" t="t" r="r" b="b"/>
              <a:pathLst>
                <a:path w="1645920" h="512064">
                  <a:moveTo>
                    <a:pt x="0" y="0"/>
                  </a:moveTo>
                  <a:lnTo>
                    <a:pt x="1645920" y="0"/>
                  </a:lnTo>
                  <a:lnTo>
                    <a:pt x="1645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30" b="-12630"/>
              </a:stretch>
            </a:blipFill>
          </p:spPr>
        </p:sp>
        <p:sp>
          <p:nvSpPr>
            <p:cNvPr id="184" name="TextBox 184"/>
            <p:cNvSpPr txBox="1"/>
            <p:nvPr/>
          </p:nvSpPr>
          <p:spPr>
            <a:xfrm>
              <a:off x="0" y="-28575"/>
              <a:ext cx="164592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 / 10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 CONTROL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5528" y="850392"/>
            <a:ext cx="15773400" cy="1028700"/>
            <a:chOff x="0" y="0"/>
            <a:chExt cx="2103120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371600"/>
            </a:xfrm>
            <a:custGeom>
              <a:avLst/>
              <a:gdLst/>
              <a:ahLst/>
              <a:cxnLst/>
              <a:rect l="l" t="t" r="r" b="b"/>
              <a:pathLst>
                <a:path w="21031200" h="13716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770" b="-24877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Privacy Through Role-Based Access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3435" y="2390775"/>
            <a:ext cx="5299710" cy="4888230"/>
            <a:chOff x="0" y="0"/>
            <a:chExt cx="7066280" cy="6517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66280" cy="6517640"/>
            </a:xfrm>
            <a:custGeom>
              <a:avLst/>
              <a:gdLst/>
              <a:ahLst/>
              <a:cxnLst/>
              <a:rect l="l" t="t" r="r" b="b"/>
              <a:pathLst>
                <a:path w="7066280" h="6517640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6809232" y="0"/>
                  </a:lnTo>
                  <a:cubicBezTo>
                    <a:pt x="6951218" y="0"/>
                    <a:pt x="7066280" y="115062"/>
                    <a:pt x="7066280" y="257048"/>
                  </a:cubicBezTo>
                  <a:lnTo>
                    <a:pt x="7066280" y="6260592"/>
                  </a:lnTo>
                  <a:cubicBezTo>
                    <a:pt x="7066280" y="6402578"/>
                    <a:pt x="6951218" y="6517640"/>
                    <a:pt x="6809232" y="6517640"/>
                  </a:cubicBezTo>
                  <a:lnTo>
                    <a:pt x="257048" y="6517640"/>
                  </a:lnTo>
                  <a:cubicBezTo>
                    <a:pt x="115062" y="6517640"/>
                    <a:pt x="0" y="6402578"/>
                    <a:pt x="0" y="626059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22960" y="2400300"/>
            <a:ext cx="5280660" cy="850392"/>
            <a:chOff x="0" y="0"/>
            <a:chExt cx="7040880" cy="11338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40880" cy="1133856"/>
            </a:xfrm>
            <a:custGeom>
              <a:avLst/>
              <a:gdLst/>
              <a:ahLst/>
              <a:cxnLst/>
              <a:rect l="l" t="t" r="r" b="b"/>
              <a:pathLst>
                <a:path w="7040880" h="1133856">
                  <a:moveTo>
                    <a:pt x="0" y="0"/>
                  </a:moveTo>
                  <a:lnTo>
                    <a:pt x="7040880" y="0"/>
                  </a:lnTo>
                  <a:lnTo>
                    <a:pt x="704088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22960" y="2400300"/>
            <a:ext cx="5280660" cy="1234440"/>
            <a:chOff x="0" y="0"/>
            <a:chExt cx="7040880" cy="16459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40880" cy="1645920"/>
            </a:xfrm>
            <a:custGeom>
              <a:avLst/>
              <a:gdLst/>
              <a:ahLst/>
              <a:cxnLst/>
              <a:rect l="l" t="t" r="r" b="b"/>
              <a:pathLst>
                <a:path w="7040880" h="164592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6784848" y="0"/>
                  </a:lnTo>
                  <a:cubicBezTo>
                    <a:pt x="6926199" y="0"/>
                    <a:pt x="7040880" y="114681"/>
                    <a:pt x="7040880" y="256032"/>
                  </a:cubicBezTo>
                  <a:lnTo>
                    <a:pt x="7040880" y="1389888"/>
                  </a:lnTo>
                  <a:cubicBezTo>
                    <a:pt x="7040880" y="1531239"/>
                    <a:pt x="6926199" y="1645920"/>
                    <a:pt x="6784848" y="1645920"/>
                  </a:cubicBezTo>
                  <a:lnTo>
                    <a:pt x="256032" y="1645920"/>
                  </a:lnTo>
                  <a:cubicBezTo>
                    <a:pt x="114681" y="1645920"/>
                    <a:pt x="0" y="1531239"/>
                    <a:pt x="0" y="1389888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22960" y="3017520"/>
            <a:ext cx="5280660" cy="617220"/>
            <a:chOff x="0" y="0"/>
            <a:chExt cx="7040880" cy="8229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40880" cy="822960"/>
            </a:xfrm>
            <a:custGeom>
              <a:avLst/>
              <a:gdLst/>
              <a:ahLst/>
              <a:cxnLst/>
              <a:rect l="l" t="t" r="r" b="b"/>
              <a:pathLst>
                <a:path w="7040880" h="822960">
                  <a:moveTo>
                    <a:pt x="0" y="0"/>
                  </a:moveTo>
                  <a:lnTo>
                    <a:pt x="7040880" y="0"/>
                  </a:lnTo>
                  <a:lnTo>
                    <a:pt x="704088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165860" y="2715768"/>
            <a:ext cx="548640" cy="548640"/>
            <a:chOff x="0" y="0"/>
            <a:chExt cx="731520" cy="731520"/>
          </a:xfrm>
        </p:grpSpPr>
        <p:sp>
          <p:nvSpPr>
            <p:cNvPr id="17" name="Freeform 17" descr="icons/user_teal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920240" y="2400300"/>
            <a:ext cx="3909060" cy="1234440"/>
            <a:chOff x="0" y="0"/>
            <a:chExt cx="5212080" cy="16459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212080" cy="1645920"/>
            </a:xfrm>
            <a:custGeom>
              <a:avLst/>
              <a:gdLst/>
              <a:ahLst/>
              <a:cxnLst/>
              <a:rect l="l" t="t" r="r" b="b"/>
              <a:pathLst>
                <a:path w="5212080" h="1645920">
                  <a:moveTo>
                    <a:pt x="0" y="0"/>
                  </a:moveTo>
                  <a:lnTo>
                    <a:pt x="5212080" y="0"/>
                  </a:lnTo>
                  <a:lnTo>
                    <a:pt x="52120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2" b="-11702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212080" cy="1684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65860" y="3977640"/>
            <a:ext cx="356616" cy="356616"/>
            <a:chOff x="0" y="0"/>
            <a:chExt cx="475488" cy="475488"/>
          </a:xfrm>
        </p:grpSpPr>
        <p:sp>
          <p:nvSpPr>
            <p:cNvPr id="22" name="Freeform 22" descr="icons/check_teal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673352" y="3857244"/>
            <a:ext cx="411480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5243B"/>
                </a:solidFill>
                <a:latin typeface="Calibri (MS)"/>
                <a:ea typeface="Calibri (MS)"/>
                <a:cs typeface="Calibri (MS)"/>
                <a:sym typeface="Calibri (MS)"/>
              </a:rPr>
              <a:t>View own records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65860" y="4828032"/>
            <a:ext cx="356616" cy="356616"/>
            <a:chOff x="0" y="0"/>
            <a:chExt cx="475488" cy="475488"/>
          </a:xfrm>
        </p:grpSpPr>
        <p:sp>
          <p:nvSpPr>
            <p:cNvPr id="25" name="Freeform 25" descr="icons/check_teal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1673352" y="4707636"/>
            <a:ext cx="411480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5243B"/>
                </a:solidFill>
                <a:latin typeface="Calibri (MS)"/>
                <a:ea typeface="Calibri (MS)"/>
                <a:cs typeface="Calibri (MS)"/>
                <a:sym typeface="Calibri (MS)"/>
              </a:rPr>
              <a:t>Add health records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165860" y="5678424"/>
            <a:ext cx="356616" cy="356616"/>
            <a:chOff x="0" y="0"/>
            <a:chExt cx="475488" cy="475488"/>
          </a:xfrm>
        </p:grpSpPr>
        <p:sp>
          <p:nvSpPr>
            <p:cNvPr id="28" name="Freeform 28" descr="icons/check_teal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673352" y="5558028"/>
            <a:ext cx="411480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5243B"/>
                </a:solidFill>
                <a:latin typeface="Calibri (MS)"/>
                <a:ea typeface="Calibri (MS)"/>
                <a:cs typeface="Calibri (MS)"/>
                <a:sym typeface="Calibri (MS)"/>
              </a:rPr>
              <a:t>Upload documents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165860" y="6528816"/>
            <a:ext cx="356616" cy="356616"/>
            <a:chOff x="0" y="0"/>
            <a:chExt cx="475488" cy="475488"/>
          </a:xfrm>
        </p:grpSpPr>
        <p:sp>
          <p:nvSpPr>
            <p:cNvPr id="31" name="Freeform 31" descr="icons/check_teal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1673352" y="6408420"/>
            <a:ext cx="411480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5243B"/>
                </a:solidFill>
                <a:latin typeface="Calibri (MS)"/>
                <a:ea typeface="Calibri (MS)"/>
                <a:cs typeface="Calibri (MS)"/>
                <a:sym typeface="Calibri (MS)"/>
              </a:rPr>
              <a:t>View follow-ups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505575" y="2390775"/>
            <a:ext cx="5299710" cy="4888230"/>
            <a:chOff x="0" y="0"/>
            <a:chExt cx="7066280" cy="65176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066280" cy="6517640"/>
            </a:xfrm>
            <a:custGeom>
              <a:avLst/>
              <a:gdLst/>
              <a:ahLst/>
              <a:cxnLst/>
              <a:rect l="l" t="t" r="r" b="b"/>
              <a:pathLst>
                <a:path w="7066280" h="6517640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6809232" y="0"/>
                  </a:lnTo>
                  <a:cubicBezTo>
                    <a:pt x="6951218" y="0"/>
                    <a:pt x="7066280" y="115062"/>
                    <a:pt x="7066280" y="257048"/>
                  </a:cubicBezTo>
                  <a:lnTo>
                    <a:pt x="7066280" y="6260592"/>
                  </a:lnTo>
                  <a:cubicBezTo>
                    <a:pt x="7066280" y="6402578"/>
                    <a:pt x="6951218" y="6517640"/>
                    <a:pt x="6809232" y="6517640"/>
                  </a:cubicBezTo>
                  <a:lnTo>
                    <a:pt x="257048" y="6517640"/>
                  </a:lnTo>
                  <a:cubicBezTo>
                    <a:pt x="115062" y="6517640"/>
                    <a:pt x="0" y="6402578"/>
                    <a:pt x="0" y="626059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6515100" y="2400300"/>
            <a:ext cx="5280660" cy="850392"/>
            <a:chOff x="0" y="0"/>
            <a:chExt cx="7040880" cy="113385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040880" cy="1133856"/>
            </a:xfrm>
            <a:custGeom>
              <a:avLst/>
              <a:gdLst/>
              <a:ahLst/>
              <a:cxnLst/>
              <a:rect l="l" t="t" r="r" b="b"/>
              <a:pathLst>
                <a:path w="7040880" h="1133856">
                  <a:moveTo>
                    <a:pt x="0" y="0"/>
                  </a:moveTo>
                  <a:lnTo>
                    <a:pt x="7040880" y="0"/>
                  </a:lnTo>
                  <a:lnTo>
                    <a:pt x="704088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6515100" y="2400300"/>
            <a:ext cx="5280660" cy="1234440"/>
            <a:chOff x="0" y="0"/>
            <a:chExt cx="7040880" cy="16459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040880" cy="1645920"/>
            </a:xfrm>
            <a:custGeom>
              <a:avLst/>
              <a:gdLst/>
              <a:ahLst/>
              <a:cxnLst/>
              <a:rect l="l" t="t" r="r" b="b"/>
              <a:pathLst>
                <a:path w="7040880" h="164592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6784848" y="0"/>
                  </a:lnTo>
                  <a:cubicBezTo>
                    <a:pt x="6926199" y="0"/>
                    <a:pt x="7040880" y="114681"/>
                    <a:pt x="7040880" y="256032"/>
                  </a:cubicBezTo>
                  <a:lnTo>
                    <a:pt x="7040880" y="1389888"/>
                  </a:lnTo>
                  <a:cubicBezTo>
                    <a:pt x="7040880" y="1531239"/>
                    <a:pt x="6926199" y="1645920"/>
                    <a:pt x="6784848" y="1645920"/>
                  </a:cubicBezTo>
                  <a:lnTo>
                    <a:pt x="256032" y="1645920"/>
                  </a:lnTo>
                  <a:cubicBezTo>
                    <a:pt x="114681" y="1645920"/>
                    <a:pt x="0" y="1531239"/>
                    <a:pt x="0" y="1389888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6515100" y="3017520"/>
            <a:ext cx="5280660" cy="617220"/>
            <a:chOff x="0" y="0"/>
            <a:chExt cx="7040880" cy="8229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040880" cy="822960"/>
            </a:xfrm>
            <a:custGeom>
              <a:avLst/>
              <a:gdLst/>
              <a:ahLst/>
              <a:cxnLst/>
              <a:rect l="l" t="t" r="r" b="b"/>
              <a:pathLst>
                <a:path w="7040880" h="822960">
                  <a:moveTo>
                    <a:pt x="0" y="0"/>
                  </a:moveTo>
                  <a:lnTo>
                    <a:pt x="7040880" y="0"/>
                  </a:lnTo>
                  <a:lnTo>
                    <a:pt x="704088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858000" y="2715768"/>
            <a:ext cx="548640" cy="548640"/>
            <a:chOff x="0" y="0"/>
            <a:chExt cx="731520" cy="731520"/>
          </a:xfrm>
        </p:grpSpPr>
        <p:sp>
          <p:nvSpPr>
            <p:cNvPr id="42" name="Freeform 42" descr="icons/doctor_teal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7612380" y="2400300"/>
            <a:ext cx="3909060" cy="1234440"/>
            <a:chOff x="0" y="0"/>
            <a:chExt cx="5212080" cy="16459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212080" cy="1645920"/>
            </a:xfrm>
            <a:custGeom>
              <a:avLst/>
              <a:gdLst/>
              <a:ahLst/>
              <a:cxnLst/>
              <a:rect l="l" t="t" r="r" b="b"/>
              <a:pathLst>
                <a:path w="5212080" h="1645920">
                  <a:moveTo>
                    <a:pt x="0" y="0"/>
                  </a:moveTo>
                  <a:lnTo>
                    <a:pt x="5212080" y="0"/>
                  </a:lnTo>
                  <a:lnTo>
                    <a:pt x="52120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2" b="-11702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5212080" cy="1684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AUTHORIZED PROVIDER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0" y="3977640"/>
            <a:ext cx="356616" cy="356616"/>
            <a:chOff x="0" y="0"/>
            <a:chExt cx="475488" cy="475488"/>
          </a:xfrm>
        </p:grpSpPr>
        <p:sp>
          <p:nvSpPr>
            <p:cNvPr id="47" name="Freeform 47" descr="icons/check_teal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48" name="TextBox 48"/>
          <p:cNvSpPr txBox="1"/>
          <p:nvPr/>
        </p:nvSpPr>
        <p:spPr>
          <a:xfrm>
            <a:off x="7365492" y="3857244"/>
            <a:ext cx="411480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5243B"/>
                </a:solidFill>
                <a:latin typeface="Calibri (MS)"/>
                <a:ea typeface="Calibri (MS)"/>
                <a:cs typeface="Calibri (MS)"/>
                <a:sym typeface="Calibri (MS)"/>
              </a:rPr>
              <a:t>Access authorized patient records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6858000" y="4828032"/>
            <a:ext cx="356616" cy="356616"/>
            <a:chOff x="0" y="0"/>
            <a:chExt cx="475488" cy="475488"/>
          </a:xfrm>
        </p:grpSpPr>
        <p:sp>
          <p:nvSpPr>
            <p:cNvPr id="50" name="Freeform 50" descr="icons/check_teal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51" name="TextBox 51"/>
          <p:cNvSpPr txBox="1"/>
          <p:nvPr/>
        </p:nvSpPr>
        <p:spPr>
          <a:xfrm>
            <a:off x="7365492" y="4707636"/>
            <a:ext cx="411480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5243B"/>
                </a:solidFill>
                <a:latin typeface="Calibri (MS)"/>
                <a:ea typeface="Calibri (MS)"/>
                <a:cs typeface="Calibri (MS)"/>
                <a:sym typeface="Calibri (MS)"/>
              </a:rPr>
              <a:t>Add visit notes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6858000" y="5678424"/>
            <a:ext cx="356616" cy="356616"/>
            <a:chOff x="0" y="0"/>
            <a:chExt cx="475488" cy="475488"/>
          </a:xfrm>
        </p:grpSpPr>
        <p:sp>
          <p:nvSpPr>
            <p:cNvPr id="53" name="Freeform 53" descr="icons/check_teal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54" name="TextBox 54"/>
          <p:cNvSpPr txBox="1"/>
          <p:nvPr/>
        </p:nvSpPr>
        <p:spPr>
          <a:xfrm>
            <a:off x="7365492" y="5558028"/>
            <a:ext cx="411480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5243B"/>
                </a:solidFill>
                <a:latin typeface="Calibri (MS)"/>
                <a:ea typeface="Calibri (MS)"/>
                <a:cs typeface="Calibri (MS)"/>
                <a:sym typeface="Calibri (MS)"/>
              </a:rPr>
              <a:t>Update follow-up information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2197715" y="2390775"/>
            <a:ext cx="5299710" cy="4888230"/>
            <a:chOff x="0" y="0"/>
            <a:chExt cx="7066280" cy="651764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7066280" cy="6517640"/>
            </a:xfrm>
            <a:custGeom>
              <a:avLst/>
              <a:gdLst/>
              <a:ahLst/>
              <a:cxnLst/>
              <a:rect l="l" t="t" r="r" b="b"/>
              <a:pathLst>
                <a:path w="7066280" h="6517640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6809232" y="0"/>
                  </a:lnTo>
                  <a:cubicBezTo>
                    <a:pt x="6951218" y="0"/>
                    <a:pt x="7066280" y="115062"/>
                    <a:pt x="7066280" y="257048"/>
                  </a:cubicBezTo>
                  <a:lnTo>
                    <a:pt x="7066280" y="6260592"/>
                  </a:lnTo>
                  <a:cubicBezTo>
                    <a:pt x="7066280" y="6402578"/>
                    <a:pt x="6951218" y="6517640"/>
                    <a:pt x="6809232" y="6517640"/>
                  </a:cubicBezTo>
                  <a:lnTo>
                    <a:pt x="257048" y="6517640"/>
                  </a:lnTo>
                  <a:cubicBezTo>
                    <a:pt x="115062" y="6517640"/>
                    <a:pt x="0" y="6402578"/>
                    <a:pt x="0" y="626059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2C9CE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12207240" y="2400300"/>
            <a:ext cx="5280660" cy="850392"/>
            <a:chOff x="0" y="0"/>
            <a:chExt cx="7040880" cy="113385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040880" cy="1133856"/>
            </a:xfrm>
            <a:custGeom>
              <a:avLst/>
              <a:gdLst/>
              <a:ahLst/>
              <a:cxnLst/>
              <a:rect l="l" t="t" r="r" b="b"/>
              <a:pathLst>
                <a:path w="7040880" h="1133856">
                  <a:moveTo>
                    <a:pt x="0" y="0"/>
                  </a:moveTo>
                  <a:lnTo>
                    <a:pt x="7040880" y="0"/>
                  </a:lnTo>
                  <a:lnTo>
                    <a:pt x="704088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FCEEEF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2207240" y="2400300"/>
            <a:ext cx="5280660" cy="1234440"/>
            <a:chOff x="0" y="0"/>
            <a:chExt cx="7040880" cy="16459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040880" cy="1645920"/>
            </a:xfrm>
            <a:custGeom>
              <a:avLst/>
              <a:gdLst/>
              <a:ahLst/>
              <a:cxnLst/>
              <a:rect l="l" t="t" r="r" b="b"/>
              <a:pathLst>
                <a:path w="7040880" h="164592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6784848" y="0"/>
                  </a:lnTo>
                  <a:cubicBezTo>
                    <a:pt x="6926199" y="0"/>
                    <a:pt x="7040880" y="114681"/>
                    <a:pt x="7040880" y="256032"/>
                  </a:cubicBezTo>
                  <a:lnTo>
                    <a:pt x="7040880" y="1389888"/>
                  </a:lnTo>
                  <a:cubicBezTo>
                    <a:pt x="7040880" y="1531239"/>
                    <a:pt x="6926199" y="1645920"/>
                    <a:pt x="6784848" y="1645920"/>
                  </a:cubicBezTo>
                  <a:lnTo>
                    <a:pt x="256032" y="1645920"/>
                  </a:lnTo>
                  <a:cubicBezTo>
                    <a:pt x="114681" y="1645920"/>
                    <a:pt x="0" y="1531239"/>
                    <a:pt x="0" y="1389888"/>
                  </a:cubicBezTo>
                  <a:close/>
                </a:path>
              </a:pathLst>
            </a:custGeom>
            <a:solidFill>
              <a:srgbClr val="FCEEEF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2207240" y="3017520"/>
            <a:ext cx="5280660" cy="617220"/>
            <a:chOff x="0" y="0"/>
            <a:chExt cx="7040880" cy="82296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040880" cy="822960"/>
            </a:xfrm>
            <a:custGeom>
              <a:avLst/>
              <a:gdLst/>
              <a:ahLst/>
              <a:cxnLst/>
              <a:rect l="l" t="t" r="r" b="b"/>
              <a:pathLst>
                <a:path w="7040880" h="822960">
                  <a:moveTo>
                    <a:pt x="0" y="0"/>
                  </a:moveTo>
                  <a:lnTo>
                    <a:pt x="7040880" y="0"/>
                  </a:lnTo>
                  <a:lnTo>
                    <a:pt x="704088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FCEEEF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2550140" y="2715768"/>
            <a:ext cx="548640" cy="548640"/>
            <a:chOff x="0" y="0"/>
            <a:chExt cx="731520" cy="731520"/>
          </a:xfrm>
        </p:grpSpPr>
        <p:sp>
          <p:nvSpPr>
            <p:cNvPr id="64" name="Freeform 64" descr="icons/warning_danger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13304520" y="2400300"/>
            <a:ext cx="3909060" cy="1234440"/>
            <a:chOff x="0" y="0"/>
            <a:chExt cx="5212080" cy="16459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212080" cy="1645920"/>
            </a:xfrm>
            <a:custGeom>
              <a:avLst/>
              <a:gdLst/>
              <a:ahLst/>
              <a:cxnLst/>
              <a:rect l="l" t="t" r="r" b="b"/>
              <a:pathLst>
                <a:path w="5212080" h="1645920">
                  <a:moveTo>
                    <a:pt x="0" y="0"/>
                  </a:moveTo>
                  <a:lnTo>
                    <a:pt x="5212080" y="0"/>
                  </a:lnTo>
                  <a:lnTo>
                    <a:pt x="52120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2" b="-11702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5212080" cy="1684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D645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UNAUTHORIZED USER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550140" y="3977640"/>
            <a:ext cx="356616" cy="356616"/>
            <a:chOff x="0" y="0"/>
            <a:chExt cx="475488" cy="475488"/>
          </a:xfrm>
        </p:grpSpPr>
        <p:sp>
          <p:nvSpPr>
            <p:cNvPr id="69" name="Freeform 69" descr="icons/times_danger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70" name="TextBox 70"/>
          <p:cNvSpPr txBox="1"/>
          <p:nvPr/>
        </p:nvSpPr>
        <p:spPr>
          <a:xfrm>
            <a:off x="13057632" y="3857244"/>
            <a:ext cx="411480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5243B"/>
                </a:solidFill>
                <a:latin typeface="Calibri (MS)"/>
                <a:ea typeface="Calibri (MS)"/>
                <a:cs typeface="Calibri (MS)"/>
                <a:sym typeface="Calibri (MS)"/>
              </a:rPr>
              <a:t>Cannot access restricted health records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12550140" y="4828032"/>
            <a:ext cx="356616" cy="356616"/>
            <a:chOff x="0" y="0"/>
            <a:chExt cx="475488" cy="475488"/>
          </a:xfrm>
        </p:grpSpPr>
        <p:sp>
          <p:nvSpPr>
            <p:cNvPr id="72" name="Freeform 72" descr="icons/times_danger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73" name="TextBox 73"/>
          <p:cNvSpPr txBox="1"/>
          <p:nvPr/>
        </p:nvSpPr>
        <p:spPr>
          <a:xfrm>
            <a:off x="13057632" y="4707636"/>
            <a:ext cx="411480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5243B"/>
                </a:solidFill>
                <a:latin typeface="Calibri (MS)"/>
                <a:ea typeface="Calibri (MS)"/>
                <a:cs typeface="Calibri (MS)"/>
                <a:sym typeface="Calibri (MS)"/>
              </a:rPr>
              <a:t>Access attempt is recorded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822960" y="7612380"/>
            <a:ext cx="8161020" cy="1577340"/>
            <a:chOff x="0" y="0"/>
            <a:chExt cx="10881360" cy="210312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881361" cy="2103120"/>
            </a:xfrm>
            <a:custGeom>
              <a:avLst/>
              <a:gdLst/>
              <a:ahLst/>
              <a:cxnLst/>
              <a:rect l="l" t="t" r="r" b="b"/>
              <a:pathLst>
                <a:path w="10881361" h="21031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1883664"/>
                  </a:lnTo>
                  <a:cubicBezTo>
                    <a:pt x="10881361" y="2004822"/>
                    <a:pt x="10783062" y="2103120"/>
                    <a:pt x="10661904" y="2103120"/>
                  </a:cubicBezTo>
                  <a:lnTo>
                    <a:pt x="219456" y="2103120"/>
                  </a:lnTo>
                  <a:cubicBezTo>
                    <a:pt x="98298" y="2103120"/>
                    <a:pt x="0" y="2004822"/>
                    <a:pt x="0" y="1883664"/>
                  </a:cubicBezTo>
                  <a:close/>
                </a:path>
              </a:pathLst>
            </a:custGeom>
            <a:solidFill>
              <a:srgbClr val="0F3D2E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1303020" y="8133588"/>
            <a:ext cx="548640" cy="548640"/>
            <a:chOff x="0" y="0"/>
            <a:chExt cx="731520" cy="731520"/>
          </a:xfrm>
        </p:grpSpPr>
        <p:sp>
          <p:nvSpPr>
            <p:cNvPr id="77" name="Freeform 77" descr="icons/check_white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78" name="Group 78"/>
          <p:cNvGrpSpPr/>
          <p:nvPr/>
        </p:nvGrpSpPr>
        <p:grpSpPr>
          <a:xfrm>
            <a:off x="2057400" y="7612380"/>
            <a:ext cx="6720840" cy="1577340"/>
            <a:chOff x="0" y="0"/>
            <a:chExt cx="8961120" cy="210312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961120" cy="2103120"/>
            </a:xfrm>
            <a:custGeom>
              <a:avLst/>
              <a:gdLst/>
              <a:ahLst/>
              <a:cxnLst/>
              <a:rect l="l" t="t" r="r" b="b"/>
              <a:pathLst>
                <a:path w="8961120" h="2103120">
                  <a:moveTo>
                    <a:pt x="0" y="0"/>
                  </a:moveTo>
                  <a:lnTo>
                    <a:pt x="8961120" y="0"/>
                  </a:lnTo>
                  <a:lnTo>
                    <a:pt x="89611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023" b="-33023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57150"/>
              <a:ext cx="8961120" cy="21602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Authorized  →  ACCESS GRANTED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258300" y="7612380"/>
            <a:ext cx="8161020" cy="1577340"/>
            <a:chOff x="0" y="0"/>
            <a:chExt cx="10881360" cy="210312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0881361" cy="2103120"/>
            </a:xfrm>
            <a:custGeom>
              <a:avLst/>
              <a:gdLst/>
              <a:ahLst/>
              <a:cxnLst/>
              <a:rect l="l" t="t" r="r" b="b"/>
              <a:pathLst>
                <a:path w="10881361" h="21031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1883664"/>
                  </a:lnTo>
                  <a:cubicBezTo>
                    <a:pt x="10881361" y="2004822"/>
                    <a:pt x="10783062" y="2103120"/>
                    <a:pt x="10661904" y="2103120"/>
                  </a:cubicBezTo>
                  <a:lnTo>
                    <a:pt x="219456" y="2103120"/>
                  </a:lnTo>
                  <a:cubicBezTo>
                    <a:pt x="98298" y="2103120"/>
                    <a:pt x="0" y="2004822"/>
                    <a:pt x="0" y="1883664"/>
                  </a:cubicBezTo>
                  <a:close/>
                </a:path>
              </a:pathLst>
            </a:custGeom>
            <a:solidFill>
              <a:srgbClr val="4A1620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9738360" y="8133588"/>
            <a:ext cx="548640" cy="548640"/>
            <a:chOff x="0" y="0"/>
            <a:chExt cx="731520" cy="731520"/>
          </a:xfrm>
        </p:grpSpPr>
        <p:sp>
          <p:nvSpPr>
            <p:cNvPr id="84" name="Freeform 84" descr="icons/times_white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85" name="Group 85"/>
          <p:cNvGrpSpPr/>
          <p:nvPr/>
        </p:nvGrpSpPr>
        <p:grpSpPr>
          <a:xfrm>
            <a:off x="10492740" y="7612380"/>
            <a:ext cx="6720840" cy="1577340"/>
            <a:chOff x="0" y="0"/>
            <a:chExt cx="8961120" cy="210312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961120" cy="2103120"/>
            </a:xfrm>
            <a:custGeom>
              <a:avLst/>
              <a:gdLst/>
              <a:ahLst/>
              <a:cxnLst/>
              <a:rect l="l" t="t" r="r" b="b"/>
              <a:pathLst>
                <a:path w="8961120" h="2103120">
                  <a:moveTo>
                    <a:pt x="0" y="0"/>
                  </a:moveTo>
                  <a:lnTo>
                    <a:pt x="8961120" y="0"/>
                  </a:lnTo>
                  <a:lnTo>
                    <a:pt x="89611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023" b="-33023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57150"/>
              <a:ext cx="8961120" cy="21602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Unauthorized  →  ACCESS DENIED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22960" y="9793224"/>
            <a:ext cx="8229600" cy="384048"/>
            <a:chOff x="0" y="0"/>
            <a:chExt cx="10972800" cy="512064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28575"/>
              <a:ext cx="109728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HEALTHVAULT  |  URAN 2026  |  HT-05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6500348" y="9793224"/>
            <a:ext cx="1234440" cy="384048"/>
            <a:chOff x="0" y="0"/>
            <a:chExt cx="1645920" cy="512064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645920" cy="512064"/>
            </a:xfrm>
            <a:custGeom>
              <a:avLst/>
              <a:gdLst/>
              <a:ahLst/>
              <a:cxnLst/>
              <a:rect l="l" t="t" r="r" b="b"/>
              <a:pathLst>
                <a:path w="1645920" h="512064">
                  <a:moveTo>
                    <a:pt x="0" y="0"/>
                  </a:moveTo>
                  <a:lnTo>
                    <a:pt x="1645920" y="0"/>
                  </a:lnTo>
                  <a:lnTo>
                    <a:pt x="1645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30" b="-12630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28575"/>
              <a:ext cx="164592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 / 10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EXPERIENCE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5528" y="850392"/>
            <a:ext cx="15773400" cy="1028700"/>
            <a:chOff x="0" y="0"/>
            <a:chExt cx="2103120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371600"/>
            </a:xfrm>
            <a:custGeom>
              <a:avLst/>
              <a:gdLst/>
              <a:ahLst/>
              <a:cxnLst/>
              <a:rect l="l" t="t" r="r" b="b"/>
              <a:pathLst>
                <a:path w="21031200" h="13716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770" b="-24877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One Patient. One Secure Timeline.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3435" y="2322195"/>
            <a:ext cx="16683990" cy="6259830"/>
            <a:chOff x="0" y="0"/>
            <a:chExt cx="22245320" cy="8346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245320" cy="8346439"/>
            </a:xfrm>
            <a:custGeom>
              <a:avLst/>
              <a:gdLst/>
              <a:ahLst/>
              <a:cxnLst/>
              <a:rect l="l" t="t" r="r" b="b"/>
              <a:pathLst>
                <a:path w="22245320" h="8346439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21988526" y="0"/>
                  </a:lnTo>
                  <a:cubicBezTo>
                    <a:pt x="22130386" y="0"/>
                    <a:pt x="22245320" y="114935"/>
                    <a:pt x="22245320" y="256794"/>
                  </a:cubicBezTo>
                  <a:lnTo>
                    <a:pt x="22245320" y="8089646"/>
                  </a:lnTo>
                  <a:cubicBezTo>
                    <a:pt x="22245320" y="8231505"/>
                    <a:pt x="22130386" y="8346439"/>
                    <a:pt x="21988526" y="8346439"/>
                  </a:cubicBezTo>
                  <a:lnTo>
                    <a:pt x="256794" y="8346439"/>
                  </a:lnTo>
                  <a:cubicBezTo>
                    <a:pt x="114935" y="8346440"/>
                    <a:pt x="0" y="8231505"/>
                    <a:pt x="0" y="808964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22960" y="2331720"/>
            <a:ext cx="16664940" cy="1028700"/>
            <a:chOff x="0" y="0"/>
            <a:chExt cx="22219920" cy="137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9920" cy="1371600"/>
            </a:xfrm>
            <a:custGeom>
              <a:avLst/>
              <a:gdLst/>
              <a:ahLst/>
              <a:cxnLst/>
              <a:rect l="l" t="t" r="r" b="b"/>
              <a:pathLst>
                <a:path w="22219920" h="137160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1963887" y="0"/>
                  </a:lnTo>
                  <a:cubicBezTo>
                    <a:pt x="22105238" y="0"/>
                    <a:pt x="22219920" y="114681"/>
                    <a:pt x="22219920" y="256032"/>
                  </a:cubicBezTo>
                  <a:lnTo>
                    <a:pt x="22219920" y="1115568"/>
                  </a:lnTo>
                  <a:cubicBezTo>
                    <a:pt x="22219920" y="1256919"/>
                    <a:pt x="22105238" y="1371600"/>
                    <a:pt x="21963887" y="1371600"/>
                  </a:cubicBezTo>
                  <a:lnTo>
                    <a:pt x="256032" y="1371600"/>
                  </a:lnTo>
                  <a:cubicBezTo>
                    <a:pt x="114681" y="1371600"/>
                    <a:pt x="0" y="1256919"/>
                    <a:pt x="0" y="1115568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22960" y="2852928"/>
            <a:ext cx="16664940" cy="507492"/>
            <a:chOff x="0" y="0"/>
            <a:chExt cx="22219920" cy="6766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219920" cy="676656"/>
            </a:xfrm>
            <a:custGeom>
              <a:avLst/>
              <a:gdLst/>
              <a:ahLst/>
              <a:cxnLst/>
              <a:rect l="l" t="t" r="r" b="b"/>
              <a:pathLst>
                <a:path w="22219920" h="676656">
                  <a:moveTo>
                    <a:pt x="0" y="0"/>
                  </a:moveTo>
                  <a:lnTo>
                    <a:pt x="22219920" y="0"/>
                  </a:lnTo>
                  <a:lnTo>
                    <a:pt x="22219920" y="676656"/>
                  </a:lnTo>
                  <a:lnTo>
                    <a:pt x="0" y="676656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165860" y="2606040"/>
            <a:ext cx="480060" cy="480060"/>
            <a:chOff x="0" y="0"/>
            <a:chExt cx="640080" cy="640080"/>
          </a:xfrm>
        </p:grpSpPr>
        <p:sp>
          <p:nvSpPr>
            <p:cNvPr id="15" name="Freeform 15" descr="icons/user_white.p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851660" y="2331720"/>
            <a:ext cx="5486400" cy="1028700"/>
            <a:chOff x="0" y="0"/>
            <a:chExt cx="7315200" cy="1371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15200" cy="1371600"/>
            </a:xfrm>
            <a:custGeom>
              <a:avLst/>
              <a:gdLst/>
              <a:ahLst/>
              <a:cxnLst/>
              <a:rect l="l" t="t" r="r" b="b"/>
              <a:pathLst>
                <a:path w="7315200" h="13716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920" b="-5392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7315200" cy="1428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 spc="1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PATIENT: ARUN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784580" y="2606040"/>
            <a:ext cx="3360420" cy="493776"/>
            <a:chOff x="0" y="0"/>
            <a:chExt cx="4480560" cy="65836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480560" cy="658368"/>
            </a:xfrm>
            <a:custGeom>
              <a:avLst/>
              <a:gdLst/>
              <a:ahLst/>
              <a:cxnLst/>
              <a:rect l="l" t="t" r="r" b="b"/>
              <a:pathLst>
                <a:path w="4480560" h="658368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352544" y="0"/>
                  </a:lnTo>
                  <a:cubicBezTo>
                    <a:pt x="4423283" y="0"/>
                    <a:pt x="4480560" y="57277"/>
                    <a:pt x="4480560" y="128016"/>
                  </a:cubicBezTo>
                  <a:lnTo>
                    <a:pt x="4480560" y="530352"/>
                  </a:lnTo>
                  <a:cubicBezTo>
                    <a:pt x="4480560" y="601091"/>
                    <a:pt x="4423283" y="658368"/>
                    <a:pt x="4352544" y="658368"/>
                  </a:cubicBezTo>
                  <a:lnTo>
                    <a:pt x="128016" y="658368"/>
                  </a:lnTo>
                  <a:cubicBezTo>
                    <a:pt x="57277" y="658368"/>
                    <a:pt x="0" y="601091"/>
                    <a:pt x="0" y="530352"/>
                  </a:cubicBezTo>
                  <a:close/>
                </a:path>
              </a:pathLst>
            </a:custGeom>
            <a:solidFill>
              <a:srgbClr val="0F3E52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3784580" y="2606040"/>
            <a:ext cx="3360420" cy="493776"/>
            <a:chOff x="0" y="0"/>
            <a:chExt cx="4480560" cy="6583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480560" cy="658368"/>
            </a:xfrm>
            <a:custGeom>
              <a:avLst/>
              <a:gdLst/>
              <a:ahLst/>
              <a:cxnLst/>
              <a:rect l="l" t="t" r="r" b="b"/>
              <a:pathLst>
                <a:path w="4480560" h="658368">
                  <a:moveTo>
                    <a:pt x="0" y="0"/>
                  </a:moveTo>
                  <a:lnTo>
                    <a:pt x="4480560" y="0"/>
                  </a:lnTo>
                  <a:lnTo>
                    <a:pt x="44805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606" b="-8260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448056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1FB6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SYNTHETIC DEMO DATA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rot="5371500">
            <a:off x="652958" y="6039231"/>
            <a:ext cx="4591974" cy="0"/>
          </a:xfrm>
          <a:prstGeom prst="line">
            <a:avLst/>
          </a:prstGeom>
          <a:ln w="19050" cap="rnd">
            <a:solidFill>
              <a:srgbClr val="DCE7E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2806446" y="4095750"/>
            <a:ext cx="284988" cy="284988"/>
            <a:chOff x="0" y="0"/>
            <a:chExt cx="379984" cy="37998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79984" cy="379984"/>
            </a:xfrm>
            <a:custGeom>
              <a:avLst/>
              <a:gdLst/>
              <a:ahLst/>
              <a:cxnLst/>
              <a:rect l="l" t="t" r="r" b="b"/>
              <a:pathLst>
                <a:path w="379984" h="379984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cubicBezTo>
                    <a:pt x="294894" y="0"/>
                    <a:pt x="379984" y="85090"/>
                    <a:pt x="379984" y="189992"/>
                  </a:cubicBezTo>
                  <a:cubicBezTo>
                    <a:pt x="379984" y="294894"/>
                    <a:pt x="294894" y="379984"/>
                    <a:pt x="189992" y="379984"/>
                  </a:cubicBezTo>
                  <a:cubicBezTo>
                    <a:pt x="85090" y="379984"/>
                    <a:pt x="0" y="294894"/>
                    <a:pt x="0" y="189992"/>
                  </a:cubicBezTo>
                  <a:close/>
                </a:path>
              </a:pathLst>
            </a:custGeom>
            <a:solidFill>
              <a:srgbClr val="1FB6A6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34440" y="3634740"/>
            <a:ext cx="1508760" cy="1207008"/>
            <a:chOff x="0" y="0"/>
            <a:chExt cx="2011680" cy="16093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11680" cy="1609344"/>
            </a:xfrm>
            <a:custGeom>
              <a:avLst/>
              <a:gdLst/>
              <a:ahLst/>
              <a:cxnLst/>
              <a:rect l="l" t="t" r="r" b="b"/>
              <a:pathLst>
                <a:path w="2011680" h="1609344">
                  <a:moveTo>
                    <a:pt x="0" y="0"/>
                  </a:moveTo>
                  <a:lnTo>
                    <a:pt x="2011680" y="0"/>
                  </a:lnTo>
                  <a:lnTo>
                    <a:pt x="20116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011680" cy="1647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 SEP 2026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497580" y="3909060"/>
            <a:ext cx="658368" cy="658368"/>
            <a:chOff x="0" y="0"/>
            <a:chExt cx="877824" cy="87782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3662172" y="4059936"/>
            <a:ext cx="329184" cy="329184"/>
            <a:chOff x="0" y="0"/>
            <a:chExt cx="438912" cy="438912"/>
          </a:xfrm>
        </p:grpSpPr>
        <p:sp>
          <p:nvSpPr>
            <p:cNvPr id="33" name="Freeform 33" descr="icons/stethoscope_teal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4389120" y="3771900"/>
            <a:ext cx="4389120" cy="480060"/>
            <a:chOff x="0" y="0"/>
            <a:chExt cx="5852160" cy="6400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852160" cy="640080"/>
            </a:xfrm>
            <a:custGeom>
              <a:avLst/>
              <a:gdLst/>
              <a:ahLst/>
              <a:cxnLst/>
              <a:rect l="l" t="t" r="r" b="b"/>
              <a:pathLst>
                <a:path w="5852160" h="64008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148" b="-128148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585216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Doctor Visit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89120" y="4251960"/>
            <a:ext cx="8915400" cy="438912"/>
            <a:chOff x="0" y="0"/>
            <a:chExt cx="11887200" cy="5852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1887200" cy="585216"/>
            </a:xfrm>
            <a:custGeom>
              <a:avLst/>
              <a:gdLst/>
              <a:ahLst/>
              <a:cxnLst/>
              <a:rect l="l" t="t" r="r" b="b"/>
              <a:pathLst>
                <a:path w="11887200" h="585216">
                  <a:moveTo>
                    <a:pt x="0" y="0"/>
                  </a:moveTo>
                  <a:lnTo>
                    <a:pt x="11887200" y="0"/>
                  </a:lnTo>
                  <a:lnTo>
                    <a:pt x="1188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5789" b="-345789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11887200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Fever and throat infection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 rot="4140">
            <a:off x="1224905" y="4836986"/>
            <a:ext cx="15861040" cy="0"/>
          </a:xfrm>
          <a:prstGeom prst="line">
            <a:avLst/>
          </a:prstGeom>
          <a:ln w="9525" cap="rnd">
            <a:solidFill>
              <a:srgbClr val="EEF2F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1" name="Group 41"/>
          <p:cNvGrpSpPr/>
          <p:nvPr/>
        </p:nvGrpSpPr>
        <p:grpSpPr>
          <a:xfrm>
            <a:off x="2806446" y="5302758"/>
            <a:ext cx="284988" cy="284988"/>
            <a:chOff x="0" y="0"/>
            <a:chExt cx="379984" cy="37998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79984" cy="379984"/>
            </a:xfrm>
            <a:custGeom>
              <a:avLst/>
              <a:gdLst/>
              <a:ahLst/>
              <a:cxnLst/>
              <a:rect l="l" t="t" r="r" b="b"/>
              <a:pathLst>
                <a:path w="379984" h="379984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cubicBezTo>
                    <a:pt x="294894" y="0"/>
                    <a:pt x="379984" y="85090"/>
                    <a:pt x="379984" y="189992"/>
                  </a:cubicBezTo>
                  <a:cubicBezTo>
                    <a:pt x="379984" y="294894"/>
                    <a:pt x="294894" y="379984"/>
                    <a:pt x="189992" y="379984"/>
                  </a:cubicBezTo>
                  <a:cubicBezTo>
                    <a:pt x="85090" y="379984"/>
                    <a:pt x="0" y="294894"/>
                    <a:pt x="0" y="189992"/>
                  </a:cubicBezTo>
                  <a:close/>
                </a:path>
              </a:pathLst>
            </a:custGeom>
            <a:solidFill>
              <a:srgbClr val="1FB6A6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1234440" y="4841748"/>
            <a:ext cx="1508760" cy="1207008"/>
            <a:chOff x="0" y="0"/>
            <a:chExt cx="2011680" cy="16093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011680" cy="1609344"/>
            </a:xfrm>
            <a:custGeom>
              <a:avLst/>
              <a:gdLst/>
              <a:ahLst/>
              <a:cxnLst/>
              <a:rect l="l" t="t" r="r" b="b"/>
              <a:pathLst>
                <a:path w="2011680" h="1609344">
                  <a:moveTo>
                    <a:pt x="0" y="0"/>
                  </a:moveTo>
                  <a:lnTo>
                    <a:pt x="2011680" y="0"/>
                  </a:lnTo>
                  <a:lnTo>
                    <a:pt x="20116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2011680" cy="1647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 SEP 2026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497580" y="5116068"/>
            <a:ext cx="658368" cy="658368"/>
            <a:chOff x="0" y="0"/>
            <a:chExt cx="877824" cy="87782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3662172" y="5266944"/>
            <a:ext cx="329184" cy="329184"/>
            <a:chOff x="0" y="0"/>
            <a:chExt cx="438912" cy="438912"/>
          </a:xfrm>
        </p:grpSpPr>
        <p:sp>
          <p:nvSpPr>
            <p:cNvPr id="49" name="Freeform 49" descr="icons/vial_teal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4389120" y="4978908"/>
            <a:ext cx="4389120" cy="480060"/>
            <a:chOff x="0" y="0"/>
            <a:chExt cx="5852160" cy="6400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852160" cy="640080"/>
            </a:xfrm>
            <a:custGeom>
              <a:avLst/>
              <a:gdLst/>
              <a:ahLst/>
              <a:cxnLst/>
              <a:rect l="l" t="t" r="r" b="b"/>
              <a:pathLst>
                <a:path w="5852160" h="64008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148" b="-128148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585216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Blood Test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389120" y="5458968"/>
            <a:ext cx="8915400" cy="438912"/>
            <a:chOff x="0" y="0"/>
            <a:chExt cx="11887200" cy="58521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887200" cy="585216"/>
            </a:xfrm>
            <a:custGeom>
              <a:avLst/>
              <a:gdLst/>
              <a:ahLst/>
              <a:cxnLst/>
              <a:rect l="l" t="t" r="r" b="b"/>
              <a:pathLst>
                <a:path w="11887200" h="585216">
                  <a:moveTo>
                    <a:pt x="0" y="0"/>
                  </a:moveTo>
                  <a:lnTo>
                    <a:pt x="11887200" y="0"/>
                  </a:lnTo>
                  <a:lnTo>
                    <a:pt x="1188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5789" b="-345789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28575"/>
              <a:ext cx="11887200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Blood_Test.pdf</a:t>
              </a:r>
            </a:p>
          </p:txBody>
        </p:sp>
      </p:grpSp>
      <p:sp>
        <p:nvSpPr>
          <p:cNvPr id="56" name="AutoShape 56"/>
          <p:cNvSpPr/>
          <p:nvPr/>
        </p:nvSpPr>
        <p:spPr>
          <a:xfrm rot="4140">
            <a:off x="1224905" y="6043994"/>
            <a:ext cx="15861040" cy="0"/>
          </a:xfrm>
          <a:prstGeom prst="line">
            <a:avLst/>
          </a:prstGeom>
          <a:ln w="9525" cap="rnd">
            <a:solidFill>
              <a:srgbClr val="EEF2F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7" name="Group 57"/>
          <p:cNvGrpSpPr/>
          <p:nvPr/>
        </p:nvGrpSpPr>
        <p:grpSpPr>
          <a:xfrm>
            <a:off x="2806446" y="6509766"/>
            <a:ext cx="284988" cy="284988"/>
            <a:chOff x="0" y="0"/>
            <a:chExt cx="379984" cy="37998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79984" cy="379984"/>
            </a:xfrm>
            <a:custGeom>
              <a:avLst/>
              <a:gdLst/>
              <a:ahLst/>
              <a:cxnLst/>
              <a:rect l="l" t="t" r="r" b="b"/>
              <a:pathLst>
                <a:path w="379984" h="379984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cubicBezTo>
                    <a:pt x="294894" y="0"/>
                    <a:pt x="379984" y="85090"/>
                    <a:pt x="379984" y="189992"/>
                  </a:cubicBezTo>
                  <a:cubicBezTo>
                    <a:pt x="379984" y="294894"/>
                    <a:pt x="294894" y="379984"/>
                    <a:pt x="189992" y="379984"/>
                  </a:cubicBezTo>
                  <a:cubicBezTo>
                    <a:pt x="85090" y="379984"/>
                    <a:pt x="0" y="294894"/>
                    <a:pt x="0" y="189992"/>
                  </a:cubicBezTo>
                  <a:close/>
                </a:path>
              </a:pathLst>
            </a:custGeom>
            <a:solidFill>
              <a:srgbClr val="1FB6A6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1234440" y="6048756"/>
            <a:ext cx="1508760" cy="1207008"/>
            <a:chOff x="0" y="0"/>
            <a:chExt cx="2011680" cy="160934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011680" cy="1609344"/>
            </a:xfrm>
            <a:custGeom>
              <a:avLst/>
              <a:gdLst/>
              <a:ahLst/>
              <a:cxnLst/>
              <a:rect l="l" t="t" r="r" b="b"/>
              <a:pathLst>
                <a:path w="2011680" h="1609344">
                  <a:moveTo>
                    <a:pt x="0" y="0"/>
                  </a:moveTo>
                  <a:lnTo>
                    <a:pt x="2011680" y="0"/>
                  </a:lnTo>
                  <a:lnTo>
                    <a:pt x="20116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2011680" cy="1647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 SEP 2026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497580" y="6323076"/>
            <a:ext cx="658368" cy="658368"/>
            <a:chOff x="0" y="0"/>
            <a:chExt cx="877824" cy="87782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3662172" y="6473952"/>
            <a:ext cx="329184" cy="329184"/>
            <a:chOff x="0" y="0"/>
            <a:chExt cx="438912" cy="438912"/>
          </a:xfrm>
        </p:grpSpPr>
        <p:sp>
          <p:nvSpPr>
            <p:cNvPr id="65" name="Freeform 65" descr="icons/pill_teal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66" name="Group 66"/>
          <p:cNvGrpSpPr/>
          <p:nvPr/>
        </p:nvGrpSpPr>
        <p:grpSpPr>
          <a:xfrm>
            <a:off x="4389120" y="6185916"/>
            <a:ext cx="4389120" cy="480060"/>
            <a:chOff x="0" y="0"/>
            <a:chExt cx="5852160" cy="64008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852160" cy="640080"/>
            </a:xfrm>
            <a:custGeom>
              <a:avLst/>
              <a:gdLst/>
              <a:ahLst/>
              <a:cxnLst/>
              <a:rect l="l" t="t" r="r" b="b"/>
              <a:pathLst>
                <a:path w="5852160" h="64008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148" b="-128148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585216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Prescription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389120" y="6665976"/>
            <a:ext cx="8915400" cy="438912"/>
            <a:chOff x="0" y="0"/>
            <a:chExt cx="11887200" cy="58521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1887200" cy="585216"/>
            </a:xfrm>
            <a:custGeom>
              <a:avLst/>
              <a:gdLst/>
              <a:ahLst/>
              <a:cxnLst/>
              <a:rect l="l" t="t" r="r" b="b"/>
              <a:pathLst>
                <a:path w="11887200" h="585216">
                  <a:moveTo>
                    <a:pt x="0" y="0"/>
                  </a:moveTo>
                  <a:lnTo>
                    <a:pt x="11887200" y="0"/>
                  </a:lnTo>
                  <a:lnTo>
                    <a:pt x="1188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5789" b="-345789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28575"/>
              <a:ext cx="11887200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Medicine A</a:t>
              </a:r>
            </a:p>
          </p:txBody>
        </p:sp>
      </p:grpSp>
      <p:sp>
        <p:nvSpPr>
          <p:cNvPr id="72" name="AutoShape 72"/>
          <p:cNvSpPr/>
          <p:nvPr/>
        </p:nvSpPr>
        <p:spPr>
          <a:xfrm rot="4140">
            <a:off x="1224905" y="7251001"/>
            <a:ext cx="15861040" cy="0"/>
          </a:xfrm>
          <a:prstGeom prst="line">
            <a:avLst/>
          </a:prstGeom>
          <a:ln w="9525" cap="rnd">
            <a:solidFill>
              <a:srgbClr val="EEF2F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3" name="Group 73"/>
          <p:cNvGrpSpPr/>
          <p:nvPr/>
        </p:nvGrpSpPr>
        <p:grpSpPr>
          <a:xfrm>
            <a:off x="2806446" y="7716774"/>
            <a:ext cx="284988" cy="284988"/>
            <a:chOff x="0" y="0"/>
            <a:chExt cx="379984" cy="37998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79984" cy="379984"/>
            </a:xfrm>
            <a:custGeom>
              <a:avLst/>
              <a:gdLst/>
              <a:ahLst/>
              <a:cxnLst/>
              <a:rect l="l" t="t" r="r" b="b"/>
              <a:pathLst>
                <a:path w="379984" h="379984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cubicBezTo>
                    <a:pt x="294894" y="0"/>
                    <a:pt x="379984" y="85090"/>
                    <a:pt x="379984" y="189992"/>
                  </a:cubicBezTo>
                  <a:cubicBezTo>
                    <a:pt x="379984" y="294894"/>
                    <a:pt x="294894" y="379984"/>
                    <a:pt x="189992" y="379984"/>
                  </a:cubicBezTo>
                  <a:cubicBezTo>
                    <a:pt x="85090" y="379984"/>
                    <a:pt x="0" y="294894"/>
                    <a:pt x="0" y="189992"/>
                  </a:cubicBezTo>
                  <a:close/>
                </a:path>
              </a:pathLst>
            </a:custGeom>
            <a:solidFill>
              <a:srgbClr val="1FB6A6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234440" y="7255764"/>
            <a:ext cx="1508760" cy="1207008"/>
            <a:chOff x="0" y="0"/>
            <a:chExt cx="2011680" cy="1609344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2011680" cy="1609344"/>
            </a:xfrm>
            <a:custGeom>
              <a:avLst/>
              <a:gdLst/>
              <a:ahLst/>
              <a:cxnLst/>
              <a:rect l="l" t="t" r="r" b="b"/>
              <a:pathLst>
                <a:path w="2011680" h="1609344">
                  <a:moveTo>
                    <a:pt x="0" y="0"/>
                  </a:moveTo>
                  <a:lnTo>
                    <a:pt x="2011680" y="0"/>
                  </a:lnTo>
                  <a:lnTo>
                    <a:pt x="20116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2011680" cy="1647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 OCT 2026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497580" y="7530084"/>
            <a:ext cx="658368" cy="658368"/>
            <a:chOff x="0" y="0"/>
            <a:chExt cx="877824" cy="87782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3662172" y="7680960"/>
            <a:ext cx="329184" cy="329184"/>
            <a:chOff x="0" y="0"/>
            <a:chExt cx="438912" cy="438912"/>
          </a:xfrm>
        </p:grpSpPr>
        <p:sp>
          <p:nvSpPr>
            <p:cNvPr id="81" name="Freeform 81" descr="icons/calendar_teal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82" name="Group 82"/>
          <p:cNvGrpSpPr/>
          <p:nvPr/>
        </p:nvGrpSpPr>
        <p:grpSpPr>
          <a:xfrm>
            <a:off x="4389120" y="7392924"/>
            <a:ext cx="4389120" cy="480060"/>
            <a:chOff x="0" y="0"/>
            <a:chExt cx="5852160" cy="64008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852160" cy="640080"/>
            </a:xfrm>
            <a:custGeom>
              <a:avLst/>
              <a:gdLst/>
              <a:ahLst/>
              <a:cxnLst/>
              <a:rect l="l" t="t" r="r" b="b"/>
              <a:pathLst>
                <a:path w="5852160" h="64008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148" b="-128148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585216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Follow-Up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389120" y="7872984"/>
            <a:ext cx="8915400" cy="438912"/>
            <a:chOff x="0" y="0"/>
            <a:chExt cx="11887200" cy="585216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1887200" cy="585216"/>
            </a:xfrm>
            <a:custGeom>
              <a:avLst/>
              <a:gdLst/>
              <a:ahLst/>
              <a:cxnLst/>
              <a:rect l="l" t="t" r="r" b="b"/>
              <a:pathLst>
                <a:path w="11887200" h="585216">
                  <a:moveTo>
                    <a:pt x="0" y="0"/>
                  </a:moveTo>
                  <a:lnTo>
                    <a:pt x="11887200" y="0"/>
                  </a:lnTo>
                  <a:lnTo>
                    <a:pt x="1188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5789" b="-345789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28575"/>
              <a:ext cx="11887200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Dr. Kumar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22960" y="8915400"/>
            <a:ext cx="15773400" cy="548640"/>
            <a:chOff x="0" y="0"/>
            <a:chExt cx="21031200" cy="73152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21031200" cy="731520"/>
            </a:xfrm>
            <a:custGeom>
              <a:avLst/>
              <a:gdLst/>
              <a:ahLst/>
              <a:cxnLst/>
              <a:rect l="l" t="t" r="r" b="b"/>
              <a:pathLst>
                <a:path w="21031200" h="73152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0194" b="-510194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210312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>
                  <a:solidFill>
                    <a:srgbClr val="5A6B7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timeline gives the patient a simple, chronological view of medical records and upcoming care.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22960" y="9793224"/>
            <a:ext cx="8229600" cy="384048"/>
            <a:chOff x="0" y="0"/>
            <a:chExt cx="10972800" cy="512064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28575"/>
              <a:ext cx="109728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HEALTHVAULT  |  URAN 2026  |  HT-05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6500348" y="9793224"/>
            <a:ext cx="1234440" cy="384048"/>
            <a:chOff x="0" y="0"/>
            <a:chExt cx="1645920" cy="512064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645920" cy="512064"/>
            </a:xfrm>
            <a:custGeom>
              <a:avLst/>
              <a:gdLst/>
              <a:ahLst/>
              <a:cxnLst/>
              <a:rect l="l" t="t" r="r" b="b"/>
              <a:pathLst>
                <a:path w="1645920" h="512064">
                  <a:moveTo>
                    <a:pt x="0" y="0"/>
                  </a:moveTo>
                  <a:lnTo>
                    <a:pt x="1645920" y="0"/>
                  </a:lnTo>
                  <a:lnTo>
                    <a:pt x="1645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30" b="-12630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28575"/>
              <a:ext cx="164592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 / 10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CARE CONTINUITY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5528" y="850392"/>
            <a:ext cx="15773400" cy="1028700"/>
            <a:chOff x="0" y="0"/>
            <a:chExt cx="2103120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371600"/>
            </a:xfrm>
            <a:custGeom>
              <a:avLst/>
              <a:gdLst/>
              <a:ahLst/>
              <a:cxnLst/>
              <a:rect l="l" t="t" r="r" b="b"/>
              <a:pathLst>
                <a:path w="21031200" h="13716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770" b="-24877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Never Miss the Next Step in Care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3435" y="2390775"/>
            <a:ext cx="9483090" cy="6191250"/>
            <a:chOff x="0" y="0"/>
            <a:chExt cx="12644120" cy="8255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644120" cy="8255000"/>
            </a:xfrm>
            <a:custGeom>
              <a:avLst/>
              <a:gdLst/>
              <a:ahLst/>
              <a:cxnLst/>
              <a:rect l="l" t="t" r="r" b="b"/>
              <a:pathLst>
                <a:path w="12644120" h="8255000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12387326" y="0"/>
                  </a:lnTo>
                  <a:cubicBezTo>
                    <a:pt x="12529185" y="0"/>
                    <a:pt x="12644120" y="114935"/>
                    <a:pt x="12644120" y="256794"/>
                  </a:cubicBezTo>
                  <a:lnTo>
                    <a:pt x="12644120" y="7998206"/>
                  </a:lnTo>
                  <a:cubicBezTo>
                    <a:pt x="12644120" y="8140065"/>
                    <a:pt x="12529185" y="8255000"/>
                    <a:pt x="12387326" y="8255000"/>
                  </a:cubicBezTo>
                  <a:lnTo>
                    <a:pt x="256794" y="8255000"/>
                  </a:lnTo>
                  <a:cubicBezTo>
                    <a:pt x="114935" y="8255000"/>
                    <a:pt x="0" y="8140065"/>
                    <a:pt x="0" y="799820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34440" y="2702052"/>
            <a:ext cx="8641080" cy="480060"/>
            <a:chOff x="0" y="0"/>
            <a:chExt cx="1152144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521440" cy="640080"/>
            </a:xfrm>
            <a:custGeom>
              <a:avLst/>
              <a:gdLst/>
              <a:ahLst/>
              <a:cxnLst/>
              <a:rect l="l" t="t" r="r" b="b"/>
              <a:pathLst>
                <a:path w="11521440" h="640080">
                  <a:moveTo>
                    <a:pt x="0" y="0"/>
                  </a:moveTo>
                  <a:lnTo>
                    <a:pt x="11521440" y="0"/>
                  </a:lnTo>
                  <a:lnTo>
                    <a:pt x="11521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30" b="-30073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152144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Upcoming Follow-Ups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24915" y="3419475"/>
            <a:ext cx="8660130" cy="1596390"/>
            <a:chOff x="0" y="0"/>
            <a:chExt cx="11546840" cy="2128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546840" cy="2128520"/>
            </a:xfrm>
            <a:custGeom>
              <a:avLst/>
              <a:gdLst/>
              <a:ahLst/>
              <a:cxnLst/>
              <a:rect l="l" t="t" r="r" b="b"/>
              <a:pathLst>
                <a:path w="11546840" h="2128520">
                  <a:moveTo>
                    <a:pt x="0" y="185039"/>
                  </a:moveTo>
                  <a:cubicBezTo>
                    <a:pt x="0" y="82931"/>
                    <a:pt x="82931" y="0"/>
                    <a:pt x="185039" y="0"/>
                  </a:cubicBezTo>
                  <a:lnTo>
                    <a:pt x="11361801" y="0"/>
                  </a:lnTo>
                  <a:cubicBezTo>
                    <a:pt x="11464036" y="0"/>
                    <a:pt x="11546840" y="82931"/>
                    <a:pt x="11546840" y="185039"/>
                  </a:cubicBezTo>
                  <a:lnTo>
                    <a:pt x="11546840" y="1943481"/>
                  </a:lnTo>
                  <a:cubicBezTo>
                    <a:pt x="11546840" y="2045716"/>
                    <a:pt x="11463909" y="2128520"/>
                    <a:pt x="11361801" y="2128520"/>
                  </a:cubicBezTo>
                  <a:lnTo>
                    <a:pt x="185039" y="2128520"/>
                  </a:lnTo>
                  <a:cubicBezTo>
                    <a:pt x="82931" y="2128520"/>
                    <a:pt x="0" y="2045589"/>
                    <a:pt x="0" y="1943481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508760" y="3703320"/>
            <a:ext cx="1577340" cy="466344"/>
            <a:chOff x="0" y="0"/>
            <a:chExt cx="2103120" cy="6217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03120" cy="621792"/>
            </a:xfrm>
            <a:custGeom>
              <a:avLst/>
              <a:gdLst/>
              <a:ahLst/>
              <a:cxnLst/>
              <a:rect l="l" t="t" r="r" b="b"/>
              <a:pathLst>
                <a:path w="2103120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975104" y="0"/>
                  </a:lnTo>
                  <a:cubicBezTo>
                    <a:pt x="2045843" y="0"/>
                    <a:pt x="2103120" y="57277"/>
                    <a:pt x="2103120" y="128016"/>
                  </a:cubicBezTo>
                  <a:lnTo>
                    <a:pt x="2103120" y="493776"/>
                  </a:lnTo>
                  <a:cubicBezTo>
                    <a:pt x="2103120" y="564515"/>
                    <a:pt x="2045843" y="621792"/>
                    <a:pt x="1975104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D6455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508760" y="3703320"/>
            <a:ext cx="1577340" cy="466344"/>
            <a:chOff x="0" y="0"/>
            <a:chExt cx="2103120" cy="6217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03120" cy="621792"/>
            </a:xfrm>
            <a:custGeom>
              <a:avLst/>
              <a:gdLst/>
              <a:ahLst/>
              <a:cxnLst/>
              <a:rect l="l" t="t" r="r" b="b"/>
              <a:pathLst>
                <a:path w="2103120" h="621792">
                  <a:moveTo>
                    <a:pt x="0" y="0"/>
                  </a:moveTo>
                  <a:lnTo>
                    <a:pt x="2103120" y="0"/>
                  </a:lnTo>
                  <a:lnTo>
                    <a:pt x="2103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05" b="-1590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1031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TOMORROW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08760" y="4279392"/>
            <a:ext cx="6172200" cy="438912"/>
            <a:chOff x="0" y="0"/>
            <a:chExt cx="8229600" cy="5852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29600" cy="585216"/>
            </a:xfrm>
            <a:custGeom>
              <a:avLst/>
              <a:gdLst/>
              <a:ahLst/>
              <a:cxnLst/>
              <a:rect l="l" t="t" r="r" b="b"/>
              <a:pathLst>
                <a:path w="8229600" h="585216">
                  <a:moveTo>
                    <a:pt x="0" y="0"/>
                  </a:moveTo>
                  <a:lnTo>
                    <a:pt x="8229600" y="0"/>
                  </a:lnTo>
                  <a:lnTo>
                    <a:pt x="8229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4008" b="-22400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822960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Blood Test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08760" y="4663440"/>
            <a:ext cx="6172200" cy="342900"/>
            <a:chOff x="0" y="0"/>
            <a:chExt cx="8229600" cy="457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9600" cy="457200"/>
            </a:xfrm>
            <a:custGeom>
              <a:avLst/>
              <a:gdLst/>
              <a:ahLst/>
              <a:cxnLst/>
              <a:rect l="l" t="t" r="r" b="b"/>
              <a:pathLst>
                <a:path w="8229600" h="457200">
                  <a:moveTo>
                    <a:pt x="0" y="0"/>
                  </a:moveTo>
                  <a:lnTo>
                    <a:pt x="8229600" y="0"/>
                  </a:lnTo>
                  <a:lnTo>
                    <a:pt x="8229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30" b="-30073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22960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Dr. Kumar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543800" y="3703320"/>
            <a:ext cx="2057400" cy="466344"/>
            <a:chOff x="0" y="0"/>
            <a:chExt cx="2743200" cy="6217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963" b="-3596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2743200" cy="6503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10:30 AM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24915" y="5339715"/>
            <a:ext cx="8660130" cy="1596390"/>
            <a:chOff x="0" y="0"/>
            <a:chExt cx="11546840" cy="2128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546840" cy="2128520"/>
            </a:xfrm>
            <a:custGeom>
              <a:avLst/>
              <a:gdLst/>
              <a:ahLst/>
              <a:cxnLst/>
              <a:rect l="l" t="t" r="r" b="b"/>
              <a:pathLst>
                <a:path w="11546840" h="2128520">
                  <a:moveTo>
                    <a:pt x="0" y="185039"/>
                  </a:moveTo>
                  <a:cubicBezTo>
                    <a:pt x="0" y="82931"/>
                    <a:pt x="82931" y="0"/>
                    <a:pt x="185039" y="0"/>
                  </a:cubicBezTo>
                  <a:lnTo>
                    <a:pt x="11361801" y="0"/>
                  </a:lnTo>
                  <a:cubicBezTo>
                    <a:pt x="11464036" y="0"/>
                    <a:pt x="11546840" y="82931"/>
                    <a:pt x="11546840" y="185039"/>
                  </a:cubicBezTo>
                  <a:lnTo>
                    <a:pt x="11546840" y="1943481"/>
                  </a:lnTo>
                  <a:cubicBezTo>
                    <a:pt x="11546840" y="2045716"/>
                    <a:pt x="11463909" y="2128520"/>
                    <a:pt x="11361801" y="2128520"/>
                  </a:cubicBezTo>
                  <a:lnTo>
                    <a:pt x="185039" y="2128520"/>
                  </a:lnTo>
                  <a:cubicBezTo>
                    <a:pt x="82931" y="2128520"/>
                    <a:pt x="0" y="2045589"/>
                    <a:pt x="0" y="1943481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508760" y="5623560"/>
            <a:ext cx="1577340" cy="466344"/>
            <a:chOff x="0" y="0"/>
            <a:chExt cx="2103120" cy="62179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03120" cy="621792"/>
            </a:xfrm>
            <a:custGeom>
              <a:avLst/>
              <a:gdLst/>
              <a:ahLst/>
              <a:cxnLst/>
              <a:rect l="l" t="t" r="r" b="b"/>
              <a:pathLst>
                <a:path w="2103120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975104" y="0"/>
                  </a:lnTo>
                  <a:cubicBezTo>
                    <a:pt x="2045843" y="0"/>
                    <a:pt x="2103120" y="57277"/>
                    <a:pt x="2103120" y="128016"/>
                  </a:cubicBezTo>
                  <a:lnTo>
                    <a:pt x="2103120" y="493776"/>
                  </a:lnTo>
                  <a:cubicBezTo>
                    <a:pt x="2103120" y="564515"/>
                    <a:pt x="2045843" y="621792"/>
                    <a:pt x="1975104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508760" y="5623560"/>
            <a:ext cx="1577340" cy="466344"/>
            <a:chOff x="0" y="0"/>
            <a:chExt cx="2103120" cy="62179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03120" cy="621792"/>
            </a:xfrm>
            <a:custGeom>
              <a:avLst/>
              <a:gdLst/>
              <a:ahLst/>
              <a:cxnLst/>
              <a:rect l="l" t="t" r="r" b="b"/>
              <a:pathLst>
                <a:path w="2103120" h="621792">
                  <a:moveTo>
                    <a:pt x="0" y="0"/>
                  </a:moveTo>
                  <a:lnTo>
                    <a:pt x="2103120" y="0"/>
                  </a:lnTo>
                  <a:lnTo>
                    <a:pt x="2103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05" b="-15905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21031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 DAYS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08760" y="6199632"/>
            <a:ext cx="6172200" cy="438912"/>
            <a:chOff x="0" y="0"/>
            <a:chExt cx="8229600" cy="58521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229600" cy="585216"/>
            </a:xfrm>
            <a:custGeom>
              <a:avLst/>
              <a:gdLst/>
              <a:ahLst/>
              <a:cxnLst/>
              <a:rect l="l" t="t" r="r" b="b"/>
              <a:pathLst>
                <a:path w="8229600" h="585216">
                  <a:moveTo>
                    <a:pt x="0" y="0"/>
                  </a:moveTo>
                  <a:lnTo>
                    <a:pt x="8229600" y="0"/>
                  </a:lnTo>
                  <a:lnTo>
                    <a:pt x="8229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4008" b="-224008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822960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General Check-Up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508760" y="6583680"/>
            <a:ext cx="6172200" cy="342900"/>
            <a:chOff x="0" y="0"/>
            <a:chExt cx="8229600" cy="457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229600" cy="457200"/>
            </a:xfrm>
            <a:custGeom>
              <a:avLst/>
              <a:gdLst/>
              <a:ahLst/>
              <a:cxnLst/>
              <a:rect l="l" t="t" r="r" b="b"/>
              <a:pathLst>
                <a:path w="8229600" h="457200">
                  <a:moveTo>
                    <a:pt x="0" y="0"/>
                  </a:moveTo>
                  <a:lnTo>
                    <a:pt x="8229600" y="0"/>
                  </a:lnTo>
                  <a:lnTo>
                    <a:pt x="8229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30" b="-30073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822960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Routine review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34440" y="7818120"/>
            <a:ext cx="8641080" cy="548640"/>
            <a:chOff x="0" y="0"/>
            <a:chExt cx="11521440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521440" cy="731520"/>
            </a:xfrm>
            <a:custGeom>
              <a:avLst/>
              <a:gdLst/>
              <a:ahLst/>
              <a:cxnLst/>
              <a:rect l="l" t="t" r="r" b="b"/>
              <a:pathLst>
                <a:path w="11521440" h="731520">
                  <a:moveTo>
                    <a:pt x="0" y="0"/>
                  </a:moveTo>
                  <a:lnTo>
                    <a:pt x="11521440" y="0"/>
                  </a:lnTo>
                  <a:lnTo>
                    <a:pt x="1152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889" b="-256889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15214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i="1">
                  <a:solidFill>
                    <a:srgbClr val="5A6B7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Follow-up date  •  Reminder  •  Upcoming appointments  •  Clear status indicators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629900" y="2400300"/>
            <a:ext cx="6789420" cy="6172200"/>
            <a:chOff x="0" y="0"/>
            <a:chExt cx="9052560" cy="82296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052560" cy="8229600"/>
            </a:xfrm>
            <a:custGeom>
              <a:avLst/>
              <a:gdLst/>
              <a:ahLst/>
              <a:cxnLst/>
              <a:rect l="l" t="t" r="r" b="b"/>
              <a:pathLst>
                <a:path w="9052560" h="82296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8759952" y="0"/>
                  </a:lnTo>
                  <a:cubicBezTo>
                    <a:pt x="8921623" y="0"/>
                    <a:pt x="9052560" y="131064"/>
                    <a:pt x="9052560" y="292608"/>
                  </a:cubicBezTo>
                  <a:lnTo>
                    <a:pt x="9052560" y="7936992"/>
                  </a:lnTo>
                  <a:cubicBezTo>
                    <a:pt x="9052560" y="8098663"/>
                    <a:pt x="8921497" y="8229600"/>
                    <a:pt x="8759952" y="8229600"/>
                  </a:cubicBezTo>
                  <a:lnTo>
                    <a:pt x="292608" y="8229600"/>
                  </a:lnTo>
                  <a:cubicBezTo>
                    <a:pt x="131064" y="8229600"/>
                    <a:pt x="0" y="8098536"/>
                    <a:pt x="0" y="7936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3544550" y="3154680"/>
            <a:ext cx="960120" cy="960120"/>
            <a:chOff x="0" y="0"/>
            <a:chExt cx="1280160" cy="1280160"/>
          </a:xfrm>
        </p:grpSpPr>
        <p:sp>
          <p:nvSpPr>
            <p:cNvPr id="48" name="Freeform 48" descr="icons/bell_warning.png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11041380" y="4526280"/>
            <a:ext cx="5966460" cy="480060"/>
            <a:chOff x="0" y="0"/>
            <a:chExt cx="7955280" cy="6400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955280" cy="640080"/>
            </a:xfrm>
            <a:custGeom>
              <a:avLst/>
              <a:gdLst/>
              <a:ahLst/>
              <a:cxnLst/>
              <a:rect l="l" t="t" r="r" b="b"/>
              <a:pathLst>
                <a:path w="7955280" h="640080">
                  <a:moveTo>
                    <a:pt x="0" y="0"/>
                  </a:moveTo>
                  <a:lnTo>
                    <a:pt x="7955280" y="0"/>
                  </a:lnTo>
                  <a:lnTo>
                    <a:pt x="7955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171" b="-192171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795528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1FB6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Reminder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315700" y="5212080"/>
            <a:ext cx="5417820" cy="2057400"/>
            <a:chOff x="0" y="0"/>
            <a:chExt cx="7223760" cy="27432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223760" cy="2743200"/>
            </a:xfrm>
            <a:custGeom>
              <a:avLst/>
              <a:gdLst/>
              <a:ahLst/>
              <a:cxnLst/>
              <a:rect l="l" t="t" r="r" b="b"/>
              <a:pathLst>
                <a:path w="7223760" h="2743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7040880" y="0"/>
                  </a:lnTo>
                  <a:cubicBezTo>
                    <a:pt x="7141845" y="0"/>
                    <a:pt x="7223760" y="81915"/>
                    <a:pt x="7223760" y="182880"/>
                  </a:cubicBezTo>
                  <a:lnTo>
                    <a:pt x="7223760" y="2560320"/>
                  </a:lnTo>
                  <a:cubicBezTo>
                    <a:pt x="7223760" y="2661285"/>
                    <a:pt x="7141845" y="2743200"/>
                    <a:pt x="7040880" y="2743200"/>
                  </a:cubicBezTo>
                  <a:lnTo>
                    <a:pt x="182880" y="2743200"/>
                  </a:lnTo>
                  <a:cubicBezTo>
                    <a:pt x="81915" y="2743200"/>
                    <a:pt x="0" y="2661285"/>
                    <a:pt x="0" y="25603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1658600" y="5554980"/>
            <a:ext cx="438912" cy="438912"/>
            <a:chOff x="0" y="0"/>
            <a:chExt cx="585216" cy="585216"/>
          </a:xfrm>
        </p:grpSpPr>
        <p:sp>
          <p:nvSpPr>
            <p:cNvPr id="55" name="Freeform 55" descr="icons/bell_navy.png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12275820" y="5445252"/>
            <a:ext cx="3429000" cy="384048"/>
            <a:chOff x="0" y="0"/>
            <a:chExt cx="4572000" cy="51206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572000" cy="512064"/>
            </a:xfrm>
            <a:custGeom>
              <a:avLst/>
              <a:gdLst/>
              <a:ahLst/>
              <a:cxnLst/>
              <a:rect l="l" t="t" r="r" b="b"/>
              <a:pathLst>
                <a:path w="4572000" h="512064">
                  <a:moveTo>
                    <a:pt x="0" y="0"/>
                  </a:moveTo>
                  <a:lnTo>
                    <a:pt x="4572000" y="0"/>
                  </a:lnTo>
                  <a:lnTo>
                    <a:pt x="4572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973" b="-12397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4572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HealthVault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658600" y="6035040"/>
            <a:ext cx="4732020" cy="960120"/>
            <a:chOff x="0" y="0"/>
            <a:chExt cx="6309360" cy="128016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309360" cy="1280160"/>
            </a:xfrm>
            <a:custGeom>
              <a:avLst/>
              <a:gdLst/>
              <a:ahLst/>
              <a:cxnLst/>
              <a:rect l="l" t="t" r="r" b="b"/>
              <a:pathLst>
                <a:path w="6309360" h="1280160">
                  <a:moveTo>
                    <a:pt x="0" y="0"/>
                  </a:moveTo>
                  <a:lnTo>
                    <a:pt x="6309360" y="0"/>
                  </a:lnTo>
                  <a:lnTo>
                    <a:pt x="63093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033" b="-46033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630936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524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“Your follow-up is tomorrow.”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5636240" y="5445252"/>
            <a:ext cx="822960" cy="384048"/>
            <a:chOff x="0" y="0"/>
            <a:chExt cx="1097280" cy="51206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97280" cy="512064"/>
            </a:xfrm>
            <a:custGeom>
              <a:avLst/>
              <a:gdLst/>
              <a:ahLst/>
              <a:cxn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r="-9874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now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22960" y="9793224"/>
            <a:ext cx="8229600" cy="384048"/>
            <a:chOff x="0" y="0"/>
            <a:chExt cx="10972800" cy="51206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28575"/>
              <a:ext cx="109728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HEALTHVAULT  |  URAN 2026  |  HT-05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6500348" y="9793224"/>
            <a:ext cx="1234440" cy="384048"/>
            <a:chOff x="0" y="0"/>
            <a:chExt cx="1645920" cy="51206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645920" cy="512064"/>
            </a:xfrm>
            <a:custGeom>
              <a:avLst/>
              <a:gdLst/>
              <a:ahLst/>
              <a:cxnLst/>
              <a:rect l="l" t="t" r="r" b="b"/>
              <a:pathLst>
                <a:path w="1645920" h="512064">
                  <a:moveTo>
                    <a:pt x="0" y="0"/>
                  </a:moveTo>
                  <a:lnTo>
                    <a:pt x="1645920" y="0"/>
                  </a:lnTo>
                  <a:lnTo>
                    <a:pt x="1645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30" b="-12630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28575"/>
              <a:ext cx="164592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 / 10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&amp; TRUST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5528" y="850392"/>
            <a:ext cx="15773400" cy="1028700"/>
            <a:chOff x="0" y="0"/>
            <a:chExt cx="2103120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371600"/>
            </a:xfrm>
            <a:custGeom>
              <a:avLst/>
              <a:gdLst/>
              <a:ahLst/>
              <a:cxnLst/>
              <a:rect l="l" t="t" r="r" b="b"/>
              <a:pathLst>
                <a:path w="21031200" h="13716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770" b="-24877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Every Important Action Leaves a Trace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3435" y="2390775"/>
            <a:ext cx="10854690" cy="3256026"/>
            <a:chOff x="0" y="0"/>
            <a:chExt cx="14472920" cy="43413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72920" cy="4341368"/>
            </a:xfrm>
            <a:custGeom>
              <a:avLst/>
              <a:gdLst/>
              <a:ahLst/>
              <a:cxnLst/>
              <a:rect l="l" t="t" r="r" b="b"/>
              <a:pathLst>
                <a:path w="14472920" h="4341368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4252194" y="0"/>
                  </a:lnTo>
                  <a:cubicBezTo>
                    <a:pt x="14374113" y="0"/>
                    <a:pt x="14472920" y="98806"/>
                    <a:pt x="14472920" y="220726"/>
                  </a:cubicBezTo>
                  <a:lnTo>
                    <a:pt x="14472920" y="4120642"/>
                  </a:lnTo>
                  <a:cubicBezTo>
                    <a:pt x="14472920" y="4242562"/>
                    <a:pt x="14374113" y="4341368"/>
                    <a:pt x="14252194" y="4341368"/>
                  </a:cubicBezTo>
                  <a:lnTo>
                    <a:pt x="220726" y="4341368"/>
                  </a:lnTo>
                  <a:cubicBezTo>
                    <a:pt x="98806" y="4341368"/>
                    <a:pt x="0" y="4242562"/>
                    <a:pt x="0" y="412064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22960" y="2400300"/>
            <a:ext cx="10835640" cy="685800"/>
            <a:chOff x="0" y="0"/>
            <a:chExt cx="1444752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447520" cy="914400"/>
            </a:xfrm>
            <a:custGeom>
              <a:avLst/>
              <a:gdLst/>
              <a:ahLst/>
              <a:cxnLst/>
              <a:rect l="l" t="t" r="r" b="b"/>
              <a:pathLst>
                <a:path w="14447520" h="9144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4228063" y="0"/>
                  </a:lnTo>
                  <a:cubicBezTo>
                    <a:pt x="14349222" y="0"/>
                    <a:pt x="14447520" y="98298"/>
                    <a:pt x="14447520" y="219456"/>
                  </a:cubicBezTo>
                  <a:lnTo>
                    <a:pt x="14447520" y="694944"/>
                  </a:lnTo>
                  <a:cubicBezTo>
                    <a:pt x="14447520" y="816102"/>
                    <a:pt x="14349222" y="914400"/>
                    <a:pt x="14228063" y="914400"/>
                  </a:cubicBezTo>
                  <a:lnTo>
                    <a:pt x="219456" y="914400"/>
                  </a:lnTo>
                  <a:cubicBezTo>
                    <a:pt x="98298" y="914400"/>
                    <a:pt x="0" y="816102"/>
                    <a:pt x="0" y="694944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22960" y="2743200"/>
            <a:ext cx="10835640" cy="342900"/>
            <a:chOff x="0" y="0"/>
            <a:chExt cx="14447520" cy="457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447520" cy="457200"/>
            </a:xfrm>
            <a:custGeom>
              <a:avLst/>
              <a:gdLst/>
              <a:ahLst/>
              <a:cxnLst/>
              <a:rect l="l" t="t" r="r" b="b"/>
              <a:pathLst>
                <a:path w="14447520" h="457200">
                  <a:moveTo>
                    <a:pt x="0" y="0"/>
                  </a:moveTo>
                  <a:lnTo>
                    <a:pt x="14447520" y="0"/>
                  </a:lnTo>
                  <a:lnTo>
                    <a:pt x="1444752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028700" y="2400300"/>
            <a:ext cx="1577340" cy="685800"/>
            <a:chOff x="0" y="0"/>
            <a:chExt cx="2103120" cy="914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03120" cy="914400"/>
            </a:xfrm>
            <a:custGeom>
              <a:avLst/>
              <a:gdLst/>
              <a:ahLst/>
              <a:cxnLst/>
              <a:rect l="l" t="t" r="r" b="b"/>
              <a:pathLst>
                <a:path w="2103120" h="914400">
                  <a:moveTo>
                    <a:pt x="0" y="0"/>
                  </a:moveTo>
                  <a:lnTo>
                    <a:pt x="2103120" y="0"/>
                  </a:lnTo>
                  <a:lnTo>
                    <a:pt x="2103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84" r="-578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10312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1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80360" y="2400300"/>
            <a:ext cx="2263140" cy="685800"/>
            <a:chOff x="0" y="0"/>
            <a:chExt cx="3017520" cy="914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17520" cy="914400"/>
            </a:xfrm>
            <a:custGeom>
              <a:avLst/>
              <a:gdLst/>
              <a:ahLst/>
              <a:cxnLst/>
              <a:rect l="l" t="t" r="r" b="b"/>
              <a:pathLst>
                <a:path w="3017520" h="914400">
                  <a:moveTo>
                    <a:pt x="0" y="0"/>
                  </a:moveTo>
                  <a:lnTo>
                    <a:pt x="3017520" y="0"/>
                  </a:lnTo>
                  <a:lnTo>
                    <a:pt x="3017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00" b="-1430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301752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1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417820" y="2400300"/>
            <a:ext cx="3703320" cy="685800"/>
            <a:chOff x="0" y="0"/>
            <a:chExt cx="4937760" cy="914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37760" cy="914400"/>
            </a:xfrm>
            <a:custGeom>
              <a:avLst/>
              <a:gdLst/>
              <a:ahLst/>
              <a:cxnLst/>
              <a:rect l="l" t="t" r="r" b="b"/>
              <a:pathLst>
                <a:path w="4937760" h="914400">
                  <a:moveTo>
                    <a:pt x="0" y="0"/>
                  </a:moveTo>
                  <a:lnTo>
                    <a:pt x="4937760" y="0"/>
                  </a:lnTo>
                  <a:lnTo>
                    <a:pt x="4937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219" b="-55219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493776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1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95460" y="2400300"/>
            <a:ext cx="2194560" cy="685800"/>
            <a:chOff x="0" y="0"/>
            <a:chExt cx="2926080" cy="91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926080" cy="914400"/>
            </a:xfrm>
            <a:custGeom>
              <a:avLst/>
              <a:gdLst/>
              <a:ahLst/>
              <a:cxnLst/>
              <a:rect l="l" t="t" r="r" b="b"/>
              <a:pathLst>
                <a:path w="2926080" h="914400">
                  <a:moveTo>
                    <a:pt x="0" y="0"/>
                  </a:moveTo>
                  <a:lnTo>
                    <a:pt x="2926080" y="0"/>
                  </a:lnTo>
                  <a:lnTo>
                    <a:pt x="2926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52" b="-1235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292608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1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28700" y="3086100"/>
            <a:ext cx="1577340" cy="850392"/>
            <a:chOff x="0" y="0"/>
            <a:chExt cx="2103120" cy="113385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03120" cy="1133856"/>
            </a:xfrm>
            <a:custGeom>
              <a:avLst/>
              <a:gdLst/>
              <a:ahLst/>
              <a:cxnLst/>
              <a:rect l="l" t="t" r="r" b="b"/>
              <a:pathLst>
                <a:path w="2103120" h="1133856">
                  <a:moveTo>
                    <a:pt x="0" y="0"/>
                  </a:moveTo>
                  <a:lnTo>
                    <a:pt x="2103120" y="0"/>
                  </a:lnTo>
                  <a:lnTo>
                    <a:pt x="2103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172" r="-19172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2103120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524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09:40 AM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880360" y="3086100"/>
            <a:ext cx="2263140" cy="850392"/>
            <a:chOff x="0" y="0"/>
            <a:chExt cx="3017520" cy="113385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017520" cy="1133856"/>
            </a:xfrm>
            <a:custGeom>
              <a:avLst/>
              <a:gdLst/>
              <a:ahLst/>
              <a:cxnLst/>
              <a:rect l="l" t="t" r="r" b="b"/>
              <a:pathLst>
                <a:path w="3017520" h="1133856">
                  <a:moveTo>
                    <a:pt x="0" y="0"/>
                  </a:moveTo>
                  <a:lnTo>
                    <a:pt x="3017520" y="0"/>
                  </a:lnTo>
                  <a:lnTo>
                    <a:pt x="30175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55" b="-185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3017520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524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Dr. Kumar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417820" y="3086100"/>
            <a:ext cx="3703320" cy="850392"/>
            <a:chOff x="0" y="0"/>
            <a:chExt cx="4937760" cy="113385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937760" cy="1133856"/>
            </a:xfrm>
            <a:custGeom>
              <a:avLst/>
              <a:gdLst/>
              <a:ahLst/>
              <a:cxnLst/>
              <a:rect l="l" t="t" r="r" b="b"/>
              <a:pathLst>
                <a:path w="4937760" h="1133856">
                  <a:moveTo>
                    <a:pt x="0" y="0"/>
                  </a:moveTo>
                  <a:lnTo>
                    <a:pt x="4937760" y="0"/>
                  </a:lnTo>
                  <a:lnTo>
                    <a:pt x="49377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854" b="-34854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4937760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524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Viewed Patient Record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326880" y="3278124"/>
            <a:ext cx="2057400" cy="466344"/>
            <a:chOff x="0" y="0"/>
            <a:chExt cx="2743200" cy="6217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615184" y="0"/>
                  </a:lnTo>
                  <a:cubicBezTo>
                    <a:pt x="2685923" y="0"/>
                    <a:pt x="2743200" y="57277"/>
                    <a:pt x="2743200" y="128016"/>
                  </a:cubicBezTo>
                  <a:lnTo>
                    <a:pt x="2743200" y="493776"/>
                  </a:lnTo>
                  <a:cubicBezTo>
                    <a:pt x="2743200" y="564515"/>
                    <a:pt x="2685923" y="621792"/>
                    <a:pt x="2615184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E6F7F3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326880" y="3278124"/>
            <a:ext cx="2057400" cy="466344"/>
            <a:chOff x="0" y="0"/>
            <a:chExt cx="2743200" cy="62179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963" b="-3596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27432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1FB6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AUTHORIZED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22960" y="3936492"/>
            <a:ext cx="10835640" cy="850392"/>
            <a:chOff x="0" y="0"/>
            <a:chExt cx="14447520" cy="113385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447520" cy="1133856"/>
            </a:xfrm>
            <a:custGeom>
              <a:avLst/>
              <a:gdLst/>
              <a:ahLst/>
              <a:cxnLst/>
              <a:rect l="l" t="t" r="r" b="b"/>
              <a:pathLst>
                <a:path w="14447520" h="1133856">
                  <a:moveTo>
                    <a:pt x="0" y="0"/>
                  </a:moveTo>
                  <a:lnTo>
                    <a:pt x="14447520" y="0"/>
                  </a:lnTo>
                  <a:lnTo>
                    <a:pt x="144475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F5F9FA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028700" y="3936492"/>
            <a:ext cx="1577340" cy="850392"/>
            <a:chOff x="0" y="0"/>
            <a:chExt cx="2103120" cy="113385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03120" cy="1133856"/>
            </a:xfrm>
            <a:custGeom>
              <a:avLst/>
              <a:gdLst/>
              <a:ahLst/>
              <a:cxnLst/>
              <a:rect l="l" t="t" r="r" b="b"/>
              <a:pathLst>
                <a:path w="2103120" h="1133856">
                  <a:moveTo>
                    <a:pt x="0" y="0"/>
                  </a:moveTo>
                  <a:lnTo>
                    <a:pt x="2103120" y="0"/>
                  </a:lnTo>
                  <a:lnTo>
                    <a:pt x="2103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172" r="-19172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2103120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524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09:45 AM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880360" y="3936492"/>
            <a:ext cx="2263140" cy="850392"/>
            <a:chOff x="0" y="0"/>
            <a:chExt cx="3017520" cy="113385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017520" cy="1133856"/>
            </a:xfrm>
            <a:custGeom>
              <a:avLst/>
              <a:gdLst/>
              <a:ahLst/>
              <a:cxnLst/>
              <a:rect l="l" t="t" r="r" b="b"/>
              <a:pathLst>
                <a:path w="3017520" h="1133856">
                  <a:moveTo>
                    <a:pt x="0" y="0"/>
                  </a:moveTo>
                  <a:lnTo>
                    <a:pt x="3017520" y="0"/>
                  </a:lnTo>
                  <a:lnTo>
                    <a:pt x="30175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55" b="-185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28575"/>
              <a:ext cx="3017520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524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Dr. Kumar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417820" y="3936492"/>
            <a:ext cx="3703320" cy="850392"/>
            <a:chOff x="0" y="0"/>
            <a:chExt cx="4937760" cy="113385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937760" cy="1133856"/>
            </a:xfrm>
            <a:custGeom>
              <a:avLst/>
              <a:gdLst/>
              <a:ahLst/>
              <a:cxnLst/>
              <a:rect l="l" t="t" r="r" b="b"/>
              <a:pathLst>
                <a:path w="4937760" h="1133856">
                  <a:moveTo>
                    <a:pt x="0" y="0"/>
                  </a:moveTo>
                  <a:lnTo>
                    <a:pt x="4937760" y="0"/>
                  </a:lnTo>
                  <a:lnTo>
                    <a:pt x="49377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854" b="-34854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4937760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524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Created Record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326880" y="4128516"/>
            <a:ext cx="2057400" cy="466344"/>
            <a:chOff x="0" y="0"/>
            <a:chExt cx="2743200" cy="62179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615184" y="0"/>
                  </a:lnTo>
                  <a:cubicBezTo>
                    <a:pt x="2685923" y="0"/>
                    <a:pt x="2743200" y="57277"/>
                    <a:pt x="2743200" y="128016"/>
                  </a:cubicBezTo>
                  <a:lnTo>
                    <a:pt x="2743200" y="493776"/>
                  </a:lnTo>
                  <a:cubicBezTo>
                    <a:pt x="2743200" y="564515"/>
                    <a:pt x="2685923" y="621792"/>
                    <a:pt x="2615184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E6F7F3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9326880" y="4128516"/>
            <a:ext cx="2057400" cy="466344"/>
            <a:chOff x="0" y="0"/>
            <a:chExt cx="2743200" cy="62179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963" b="-3596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27432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1FB6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AUTHORIZED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28700" y="4786884"/>
            <a:ext cx="1577340" cy="850392"/>
            <a:chOff x="0" y="0"/>
            <a:chExt cx="2103120" cy="113385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103120" cy="1133856"/>
            </a:xfrm>
            <a:custGeom>
              <a:avLst/>
              <a:gdLst/>
              <a:ahLst/>
              <a:cxnLst/>
              <a:rect l="l" t="t" r="r" b="b"/>
              <a:pathLst>
                <a:path w="2103120" h="1133856">
                  <a:moveTo>
                    <a:pt x="0" y="0"/>
                  </a:moveTo>
                  <a:lnTo>
                    <a:pt x="2103120" y="0"/>
                  </a:lnTo>
                  <a:lnTo>
                    <a:pt x="2103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172" r="-1917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2103120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524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09:50 AM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880360" y="4786884"/>
            <a:ext cx="2263140" cy="850392"/>
            <a:chOff x="0" y="0"/>
            <a:chExt cx="3017520" cy="113385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017520" cy="1133856"/>
            </a:xfrm>
            <a:custGeom>
              <a:avLst/>
              <a:gdLst/>
              <a:ahLst/>
              <a:cxnLst/>
              <a:rect l="l" t="t" r="r" b="b"/>
              <a:pathLst>
                <a:path w="3017520" h="1133856">
                  <a:moveTo>
                    <a:pt x="0" y="0"/>
                  </a:moveTo>
                  <a:lnTo>
                    <a:pt x="3017520" y="0"/>
                  </a:lnTo>
                  <a:lnTo>
                    <a:pt x="30175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55" b="-1855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28575"/>
              <a:ext cx="3017520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524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Unknown User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417820" y="4786884"/>
            <a:ext cx="3703320" cy="850392"/>
            <a:chOff x="0" y="0"/>
            <a:chExt cx="4937760" cy="113385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937760" cy="1133856"/>
            </a:xfrm>
            <a:custGeom>
              <a:avLst/>
              <a:gdLst/>
              <a:ahLst/>
              <a:cxnLst/>
              <a:rect l="l" t="t" r="r" b="b"/>
              <a:pathLst>
                <a:path w="4937760" h="1133856">
                  <a:moveTo>
                    <a:pt x="0" y="0"/>
                  </a:moveTo>
                  <a:lnTo>
                    <a:pt x="4937760" y="0"/>
                  </a:lnTo>
                  <a:lnTo>
                    <a:pt x="49377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854" b="-34854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28575"/>
              <a:ext cx="4937760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524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Tried to Access Record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326880" y="4978908"/>
            <a:ext cx="2057400" cy="466344"/>
            <a:chOff x="0" y="0"/>
            <a:chExt cx="2743200" cy="62179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615184" y="0"/>
                  </a:lnTo>
                  <a:cubicBezTo>
                    <a:pt x="2685923" y="0"/>
                    <a:pt x="2743200" y="57277"/>
                    <a:pt x="2743200" y="128016"/>
                  </a:cubicBezTo>
                  <a:lnTo>
                    <a:pt x="2743200" y="493776"/>
                  </a:lnTo>
                  <a:cubicBezTo>
                    <a:pt x="2743200" y="564515"/>
                    <a:pt x="2685923" y="621792"/>
                    <a:pt x="2615184" y="621792"/>
                  </a:cubicBezTo>
                  <a:lnTo>
                    <a:pt x="128016" y="621792"/>
                  </a:lnTo>
                  <a:cubicBezTo>
                    <a:pt x="57277" y="621792"/>
                    <a:pt x="0" y="564515"/>
                    <a:pt x="0" y="493776"/>
                  </a:cubicBezTo>
                  <a:close/>
                </a:path>
              </a:pathLst>
            </a:custGeom>
            <a:solidFill>
              <a:srgbClr val="FCEEEF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9326880" y="4978908"/>
            <a:ext cx="2057400" cy="466344"/>
            <a:chOff x="0" y="0"/>
            <a:chExt cx="2743200" cy="62179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743200" cy="621792"/>
            </a:xfrm>
            <a:custGeom>
              <a:avLst/>
              <a:gdLst/>
              <a:ahLst/>
              <a:cxnLst/>
              <a:rect l="l" t="t" r="r" b="b"/>
              <a:pathLst>
                <a:path w="2743200" h="621792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963" b="-35963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27432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D645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BLOCKED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001500" y="2400300"/>
            <a:ext cx="438912" cy="438912"/>
            <a:chOff x="0" y="0"/>
            <a:chExt cx="585216" cy="58521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12056364" y="2455164"/>
            <a:ext cx="329184" cy="329184"/>
            <a:chOff x="0" y="0"/>
            <a:chExt cx="438912" cy="438912"/>
          </a:xfrm>
        </p:grpSpPr>
        <p:sp>
          <p:nvSpPr>
            <p:cNvPr id="73" name="Freeform 73" descr="icons/check_teal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74" name="TextBox 74"/>
          <p:cNvSpPr txBox="1"/>
          <p:nvPr/>
        </p:nvSpPr>
        <p:spPr>
          <a:xfrm>
            <a:off x="12618720" y="2289429"/>
            <a:ext cx="5349240" cy="782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5243B"/>
                </a:solidFill>
                <a:latin typeface="Calibri (MS)"/>
                <a:ea typeface="Calibri (MS)"/>
                <a:cs typeface="Calibri (MS)"/>
                <a:sym typeface="Calibri (MS)"/>
              </a:rPr>
              <a:t>Significant record access is logged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12001500" y="3305556"/>
            <a:ext cx="438912" cy="438912"/>
            <a:chOff x="0" y="0"/>
            <a:chExt cx="585216" cy="58521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2056364" y="3360420"/>
            <a:ext cx="329184" cy="329184"/>
            <a:chOff x="0" y="0"/>
            <a:chExt cx="438912" cy="438912"/>
          </a:xfrm>
        </p:grpSpPr>
        <p:sp>
          <p:nvSpPr>
            <p:cNvPr id="78" name="Freeform 78" descr="icons/check_teal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79" name="TextBox 79"/>
          <p:cNvSpPr txBox="1"/>
          <p:nvPr/>
        </p:nvSpPr>
        <p:spPr>
          <a:xfrm>
            <a:off x="12618720" y="3194685"/>
            <a:ext cx="5349240" cy="782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5243B"/>
                </a:solidFill>
                <a:latin typeface="Calibri (MS)"/>
                <a:ea typeface="Calibri (MS)"/>
                <a:cs typeface="Calibri (MS)"/>
                <a:sym typeface="Calibri (MS)"/>
              </a:rPr>
              <a:t>Changes are traceable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12001500" y="4210812"/>
            <a:ext cx="438912" cy="438912"/>
            <a:chOff x="0" y="0"/>
            <a:chExt cx="585216" cy="585216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12056364" y="4265676"/>
            <a:ext cx="329184" cy="329184"/>
            <a:chOff x="0" y="0"/>
            <a:chExt cx="438912" cy="438912"/>
          </a:xfrm>
        </p:grpSpPr>
        <p:sp>
          <p:nvSpPr>
            <p:cNvPr id="83" name="Freeform 83" descr="icons/check_teal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4" name="TextBox 84"/>
          <p:cNvSpPr txBox="1"/>
          <p:nvPr/>
        </p:nvSpPr>
        <p:spPr>
          <a:xfrm>
            <a:off x="12618720" y="4099941"/>
            <a:ext cx="5349240" cy="782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5243B"/>
                </a:solidFill>
                <a:latin typeface="Calibri (MS)"/>
                <a:ea typeface="Calibri (MS)"/>
                <a:cs typeface="Calibri (MS)"/>
                <a:sym typeface="Calibri (MS)"/>
              </a:rPr>
              <a:t>Unauthorized access is blocked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12001500" y="5116068"/>
            <a:ext cx="438912" cy="438912"/>
            <a:chOff x="0" y="0"/>
            <a:chExt cx="585216" cy="585216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87" name="Group 87"/>
          <p:cNvGrpSpPr/>
          <p:nvPr/>
        </p:nvGrpSpPr>
        <p:grpSpPr>
          <a:xfrm>
            <a:off x="12056364" y="5170932"/>
            <a:ext cx="329184" cy="329184"/>
            <a:chOff x="0" y="0"/>
            <a:chExt cx="438912" cy="438912"/>
          </a:xfrm>
        </p:grpSpPr>
        <p:sp>
          <p:nvSpPr>
            <p:cNvPr id="88" name="Freeform 88" descr="icons/check_teal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9" name="TextBox 89"/>
          <p:cNvSpPr txBox="1"/>
          <p:nvPr/>
        </p:nvSpPr>
        <p:spPr>
          <a:xfrm>
            <a:off x="12618720" y="5005197"/>
            <a:ext cx="5349240" cy="782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5243B"/>
                </a:solidFill>
                <a:latin typeface="Calibri (MS)"/>
                <a:ea typeface="Calibri (MS)"/>
                <a:cs typeface="Calibri (MS)"/>
                <a:sym typeface="Calibri (MS)"/>
              </a:rPr>
              <a:t>Sensitive data is never exposed in application logs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813435" y="7877175"/>
            <a:ext cx="3790950" cy="1390650"/>
            <a:chOff x="0" y="0"/>
            <a:chExt cx="5054600" cy="18542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5054600" cy="1854200"/>
            </a:xfrm>
            <a:custGeom>
              <a:avLst/>
              <a:gdLst/>
              <a:ahLst/>
              <a:cxnLst/>
              <a:rect l="l" t="t" r="r" b="b"/>
              <a:pathLst>
                <a:path w="5054600" h="1854200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4869180" y="0"/>
                  </a:lnTo>
                  <a:cubicBezTo>
                    <a:pt x="4971542" y="0"/>
                    <a:pt x="5054600" y="83058"/>
                    <a:pt x="5054600" y="185420"/>
                  </a:cubicBezTo>
                  <a:lnTo>
                    <a:pt x="5054600" y="1668780"/>
                  </a:lnTo>
                  <a:cubicBezTo>
                    <a:pt x="5054600" y="1771142"/>
                    <a:pt x="4971542" y="1854200"/>
                    <a:pt x="4869180" y="1854200"/>
                  </a:cubicBezTo>
                  <a:lnTo>
                    <a:pt x="185420" y="1854200"/>
                  </a:lnTo>
                  <a:cubicBezTo>
                    <a:pt x="83058" y="1854200"/>
                    <a:pt x="0" y="1771142"/>
                    <a:pt x="0" y="1668780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92" name="Group 92"/>
          <p:cNvGrpSpPr/>
          <p:nvPr/>
        </p:nvGrpSpPr>
        <p:grpSpPr>
          <a:xfrm>
            <a:off x="1124712" y="8339328"/>
            <a:ext cx="466344" cy="466344"/>
            <a:chOff x="0" y="0"/>
            <a:chExt cx="621792" cy="621792"/>
          </a:xfrm>
        </p:grpSpPr>
        <p:sp>
          <p:nvSpPr>
            <p:cNvPr id="93" name="Freeform 93" descr="icons/user_teal.png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94" name="Group 94"/>
          <p:cNvGrpSpPr/>
          <p:nvPr/>
        </p:nvGrpSpPr>
        <p:grpSpPr>
          <a:xfrm>
            <a:off x="1714500" y="7886700"/>
            <a:ext cx="2674620" cy="1371600"/>
            <a:chOff x="0" y="0"/>
            <a:chExt cx="3566160" cy="18288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3566160" cy="1828800"/>
            </a:xfrm>
            <a:custGeom>
              <a:avLst/>
              <a:gdLst/>
              <a:ahLst/>
              <a:cxnLst/>
              <a:rect l="l" t="t" r="r" b="b"/>
              <a:pathLst>
                <a:path w="3566160" h="1828800">
                  <a:moveTo>
                    <a:pt x="0" y="0"/>
                  </a:moveTo>
                  <a:lnTo>
                    <a:pt x="3566160" y="0"/>
                  </a:lnTo>
                  <a:lnTo>
                    <a:pt x="35661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96" r="-15796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38100"/>
              <a:ext cx="3566160" cy="1866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4649724" y="8462772"/>
            <a:ext cx="274320" cy="219456"/>
            <a:chOff x="0" y="0"/>
            <a:chExt cx="365760" cy="292608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65760" cy="292608"/>
            </a:xfrm>
            <a:custGeom>
              <a:avLst/>
              <a:gdLst/>
              <a:ahLst/>
              <a:cxnLst/>
              <a:rect l="l" t="t" r="r" b="b"/>
              <a:pathLst>
                <a:path w="365760" h="292608">
                  <a:moveTo>
                    <a:pt x="0" y="73152"/>
                  </a:moveTo>
                  <a:lnTo>
                    <a:pt x="219456" y="73152"/>
                  </a:lnTo>
                  <a:lnTo>
                    <a:pt x="219456" y="0"/>
                  </a:lnTo>
                  <a:lnTo>
                    <a:pt x="365760" y="146304"/>
                  </a:lnTo>
                  <a:lnTo>
                    <a:pt x="219456" y="292608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99" name="Group 99"/>
          <p:cNvGrpSpPr/>
          <p:nvPr/>
        </p:nvGrpSpPr>
        <p:grpSpPr>
          <a:xfrm>
            <a:off x="4969383" y="7877175"/>
            <a:ext cx="3790950" cy="1390650"/>
            <a:chOff x="0" y="0"/>
            <a:chExt cx="5054600" cy="18542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5054600" cy="1854200"/>
            </a:xfrm>
            <a:custGeom>
              <a:avLst/>
              <a:gdLst/>
              <a:ahLst/>
              <a:cxnLst/>
              <a:rect l="l" t="t" r="r" b="b"/>
              <a:pathLst>
                <a:path w="5054600" h="1854200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4869180" y="0"/>
                  </a:lnTo>
                  <a:cubicBezTo>
                    <a:pt x="4971542" y="0"/>
                    <a:pt x="5054600" y="83058"/>
                    <a:pt x="5054600" y="185420"/>
                  </a:cubicBezTo>
                  <a:lnTo>
                    <a:pt x="5054600" y="1668780"/>
                  </a:lnTo>
                  <a:cubicBezTo>
                    <a:pt x="5054600" y="1771142"/>
                    <a:pt x="4971542" y="1854200"/>
                    <a:pt x="4869180" y="1854200"/>
                  </a:cubicBezTo>
                  <a:lnTo>
                    <a:pt x="185420" y="1854200"/>
                  </a:lnTo>
                  <a:cubicBezTo>
                    <a:pt x="83058" y="1854200"/>
                    <a:pt x="0" y="1771142"/>
                    <a:pt x="0" y="1668780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01" name="Group 101"/>
          <p:cNvGrpSpPr/>
          <p:nvPr/>
        </p:nvGrpSpPr>
        <p:grpSpPr>
          <a:xfrm>
            <a:off x="5280660" y="8339328"/>
            <a:ext cx="466344" cy="466344"/>
            <a:chOff x="0" y="0"/>
            <a:chExt cx="621792" cy="621792"/>
          </a:xfrm>
        </p:grpSpPr>
        <p:sp>
          <p:nvSpPr>
            <p:cNvPr id="102" name="Freeform 102" descr="icons/usershield_teal.png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03" name="Group 103"/>
          <p:cNvGrpSpPr/>
          <p:nvPr/>
        </p:nvGrpSpPr>
        <p:grpSpPr>
          <a:xfrm>
            <a:off x="5870448" y="7886700"/>
            <a:ext cx="2674620" cy="1371600"/>
            <a:chOff x="0" y="0"/>
            <a:chExt cx="3566160" cy="182880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3566160" cy="1828800"/>
            </a:xfrm>
            <a:custGeom>
              <a:avLst/>
              <a:gdLst/>
              <a:ahLst/>
              <a:cxnLst/>
              <a:rect l="l" t="t" r="r" b="b"/>
              <a:pathLst>
                <a:path w="3566160" h="1828800">
                  <a:moveTo>
                    <a:pt x="0" y="0"/>
                  </a:moveTo>
                  <a:lnTo>
                    <a:pt x="3566160" y="0"/>
                  </a:lnTo>
                  <a:lnTo>
                    <a:pt x="35661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96" r="-15796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38100"/>
              <a:ext cx="3566160" cy="1866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AUTHORIZATION</a:t>
              </a:r>
            </a:p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8805672" y="8462772"/>
            <a:ext cx="274320" cy="219456"/>
            <a:chOff x="0" y="0"/>
            <a:chExt cx="365760" cy="292608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365760" cy="292608"/>
            </a:xfrm>
            <a:custGeom>
              <a:avLst/>
              <a:gdLst/>
              <a:ahLst/>
              <a:cxnLst/>
              <a:rect l="l" t="t" r="r" b="b"/>
              <a:pathLst>
                <a:path w="365760" h="292608">
                  <a:moveTo>
                    <a:pt x="0" y="73152"/>
                  </a:moveTo>
                  <a:lnTo>
                    <a:pt x="219456" y="73152"/>
                  </a:lnTo>
                  <a:lnTo>
                    <a:pt x="219456" y="0"/>
                  </a:lnTo>
                  <a:lnTo>
                    <a:pt x="365760" y="146304"/>
                  </a:lnTo>
                  <a:lnTo>
                    <a:pt x="219456" y="292608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108" name="Group 108"/>
          <p:cNvGrpSpPr/>
          <p:nvPr/>
        </p:nvGrpSpPr>
        <p:grpSpPr>
          <a:xfrm>
            <a:off x="9125331" y="7877175"/>
            <a:ext cx="3790950" cy="1390650"/>
            <a:chOff x="0" y="0"/>
            <a:chExt cx="5054600" cy="185420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5054600" cy="1854200"/>
            </a:xfrm>
            <a:custGeom>
              <a:avLst/>
              <a:gdLst/>
              <a:ahLst/>
              <a:cxnLst/>
              <a:rect l="l" t="t" r="r" b="b"/>
              <a:pathLst>
                <a:path w="5054600" h="1854200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4869180" y="0"/>
                  </a:lnTo>
                  <a:cubicBezTo>
                    <a:pt x="4971542" y="0"/>
                    <a:pt x="5054600" y="83058"/>
                    <a:pt x="5054600" y="185420"/>
                  </a:cubicBezTo>
                  <a:lnTo>
                    <a:pt x="5054600" y="1668780"/>
                  </a:lnTo>
                  <a:cubicBezTo>
                    <a:pt x="5054600" y="1771142"/>
                    <a:pt x="4971542" y="1854200"/>
                    <a:pt x="4869180" y="1854200"/>
                  </a:cubicBezTo>
                  <a:lnTo>
                    <a:pt x="185420" y="1854200"/>
                  </a:lnTo>
                  <a:cubicBezTo>
                    <a:pt x="83058" y="1854200"/>
                    <a:pt x="0" y="1771142"/>
                    <a:pt x="0" y="1668780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10" name="Group 110"/>
          <p:cNvGrpSpPr/>
          <p:nvPr/>
        </p:nvGrpSpPr>
        <p:grpSpPr>
          <a:xfrm>
            <a:off x="9436608" y="8339328"/>
            <a:ext cx="466344" cy="466344"/>
            <a:chOff x="0" y="0"/>
            <a:chExt cx="621792" cy="621792"/>
          </a:xfrm>
        </p:grpSpPr>
        <p:sp>
          <p:nvSpPr>
            <p:cNvPr id="111" name="Freeform 111" descr="icons/check_teal.png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12" name="Group 112"/>
          <p:cNvGrpSpPr/>
          <p:nvPr/>
        </p:nvGrpSpPr>
        <p:grpSpPr>
          <a:xfrm>
            <a:off x="10026396" y="7886700"/>
            <a:ext cx="2674620" cy="1371600"/>
            <a:chOff x="0" y="0"/>
            <a:chExt cx="3566160" cy="182880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3566160" cy="1828800"/>
            </a:xfrm>
            <a:custGeom>
              <a:avLst/>
              <a:gdLst/>
              <a:ahLst/>
              <a:cxnLst/>
              <a:rect l="l" t="t" r="r" b="b"/>
              <a:pathLst>
                <a:path w="3566160" h="1828800">
                  <a:moveTo>
                    <a:pt x="0" y="0"/>
                  </a:moveTo>
                  <a:lnTo>
                    <a:pt x="3566160" y="0"/>
                  </a:lnTo>
                  <a:lnTo>
                    <a:pt x="35661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96" r="-15796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38100"/>
              <a:ext cx="3566160" cy="1866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ALLOW / DENY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2961620" y="8462772"/>
            <a:ext cx="274320" cy="219456"/>
            <a:chOff x="0" y="0"/>
            <a:chExt cx="365760" cy="292608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365760" cy="292608"/>
            </a:xfrm>
            <a:custGeom>
              <a:avLst/>
              <a:gdLst/>
              <a:ahLst/>
              <a:cxnLst/>
              <a:rect l="l" t="t" r="r" b="b"/>
              <a:pathLst>
                <a:path w="365760" h="292608">
                  <a:moveTo>
                    <a:pt x="0" y="73152"/>
                  </a:moveTo>
                  <a:lnTo>
                    <a:pt x="219456" y="73152"/>
                  </a:lnTo>
                  <a:lnTo>
                    <a:pt x="219456" y="0"/>
                  </a:lnTo>
                  <a:lnTo>
                    <a:pt x="365760" y="146304"/>
                  </a:lnTo>
                  <a:lnTo>
                    <a:pt x="219456" y="292608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117" name="Group 117"/>
          <p:cNvGrpSpPr/>
          <p:nvPr/>
        </p:nvGrpSpPr>
        <p:grpSpPr>
          <a:xfrm>
            <a:off x="13281279" y="7877175"/>
            <a:ext cx="3790950" cy="1390650"/>
            <a:chOff x="0" y="0"/>
            <a:chExt cx="5054600" cy="1854200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5054600" cy="1854200"/>
            </a:xfrm>
            <a:custGeom>
              <a:avLst/>
              <a:gdLst/>
              <a:ahLst/>
              <a:cxnLst/>
              <a:rect l="l" t="t" r="r" b="b"/>
              <a:pathLst>
                <a:path w="5054600" h="1854200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4869180" y="0"/>
                  </a:lnTo>
                  <a:cubicBezTo>
                    <a:pt x="4971542" y="0"/>
                    <a:pt x="5054600" y="83058"/>
                    <a:pt x="5054600" y="185420"/>
                  </a:cubicBezTo>
                  <a:lnTo>
                    <a:pt x="5054600" y="1668780"/>
                  </a:lnTo>
                  <a:cubicBezTo>
                    <a:pt x="5054600" y="1771142"/>
                    <a:pt x="4971542" y="1854200"/>
                    <a:pt x="4869180" y="1854200"/>
                  </a:cubicBezTo>
                  <a:lnTo>
                    <a:pt x="185420" y="1854200"/>
                  </a:lnTo>
                  <a:cubicBezTo>
                    <a:pt x="83058" y="1854200"/>
                    <a:pt x="0" y="1771142"/>
                    <a:pt x="0" y="1668780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19" name="Group 119"/>
          <p:cNvGrpSpPr/>
          <p:nvPr/>
        </p:nvGrpSpPr>
        <p:grpSpPr>
          <a:xfrm>
            <a:off x="13592556" y="8339328"/>
            <a:ext cx="466344" cy="466344"/>
            <a:chOff x="0" y="0"/>
            <a:chExt cx="621792" cy="621792"/>
          </a:xfrm>
        </p:grpSpPr>
        <p:sp>
          <p:nvSpPr>
            <p:cNvPr id="120" name="Freeform 120" descr="icons/history_teal.png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21" name="Group 121"/>
          <p:cNvGrpSpPr/>
          <p:nvPr/>
        </p:nvGrpSpPr>
        <p:grpSpPr>
          <a:xfrm>
            <a:off x="14182344" y="7886700"/>
            <a:ext cx="2674620" cy="1371600"/>
            <a:chOff x="0" y="0"/>
            <a:chExt cx="3566160" cy="182880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3566160" cy="1828800"/>
            </a:xfrm>
            <a:custGeom>
              <a:avLst/>
              <a:gdLst/>
              <a:ahLst/>
              <a:cxnLst/>
              <a:rect l="l" t="t" r="r" b="b"/>
              <a:pathLst>
                <a:path w="3566160" h="1828800">
                  <a:moveTo>
                    <a:pt x="0" y="0"/>
                  </a:moveTo>
                  <a:lnTo>
                    <a:pt x="3566160" y="0"/>
                  </a:lnTo>
                  <a:lnTo>
                    <a:pt x="35661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96" r="-15796"/>
              </a:stretch>
            </a:blipFill>
          </p:spPr>
        </p:sp>
        <p:sp>
          <p:nvSpPr>
            <p:cNvPr id="123" name="TextBox 123"/>
            <p:cNvSpPr txBox="1"/>
            <p:nvPr/>
          </p:nvSpPr>
          <p:spPr>
            <a:xfrm>
              <a:off x="0" y="-38100"/>
              <a:ext cx="3566160" cy="1866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 LOG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822960" y="9793224"/>
            <a:ext cx="8229600" cy="384048"/>
            <a:chOff x="0" y="0"/>
            <a:chExt cx="10972800" cy="512064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28575"/>
              <a:ext cx="109728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HEALTHVAULT  |  URAN 2026  |  HT-05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6500348" y="9793224"/>
            <a:ext cx="1234440" cy="384048"/>
            <a:chOff x="0" y="0"/>
            <a:chExt cx="1645920" cy="512064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1645920" cy="512064"/>
            </a:xfrm>
            <a:custGeom>
              <a:avLst/>
              <a:gdLst/>
              <a:ahLst/>
              <a:cxnLst/>
              <a:rect l="l" t="t" r="r" b="b"/>
              <a:pathLst>
                <a:path w="1645920" h="512064">
                  <a:moveTo>
                    <a:pt x="0" y="0"/>
                  </a:moveTo>
                  <a:lnTo>
                    <a:pt x="1645920" y="0"/>
                  </a:lnTo>
                  <a:lnTo>
                    <a:pt x="1645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30" b="-12630"/>
              </a:stretch>
            </a:blipFill>
          </p:spPr>
        </p:sp>
        <p:sp>
          <p:nvSpPr>
            <p:cNvPr id="129" name="TextBox 129"/>
            <p:cNvSpPr txBox="1"/>
            <p:nvPr/>
          </p:nvSpPr>
          <p:spPr>
            <a:xfrm>
              <a:off x="0" y="-28575"/>
              <a:ext cx="164592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 / 10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80060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&amp; 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5528" y="850392"/>
            <a:ext cx="15773400" cy="1028700"/>
            <a:chOff x="0" y="0"/>
            <a:chExt cx="2103120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371600"/>
            </a:xfrm>
            <a:custGeom>
              <a:avLst/>
              <a:gdLst/>
              <a:ahLst/>
              <a:cxnLst/>
              <a:rect l="l" t="t" r="r" b="b"/>
              <a:pathLst>
                <a:path w="21031200" h="13716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770" b="-24877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Secure-by-Design Architecture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359152"/>
            <a:ext cx="7543800" cy="726948"/>
            <a:chOff x="0" y="0"/>
            <a:chExt cx="10058400" cy="96926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58400" cy="969264"/>
            </a:xfrm>
            <a:custGeom>
              <a:avLst/>
              <a:gdLst/>
              <a:ahLst/>
              <a:cxnLst/>
              <a:rect l="l" t="t" r="r" b="b"/>
              <a:pathLst>
                <a:path w="10058400" h="96926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912096" y="0"/>
                  </a:lnTo>
                  <a:cubicBezTo>
                    <a:pt x="9992868" y="0"/>
                    <a:pt x="10058400" y="65532"/>
                    <a:pt x="10058400" y="146304"/>
                  </a:cubicBezTo>
                  <a:lnTo>
                    <a:pt x="10058400" y="822960"/>
                  </a:lnTo>
                  <a:cubicBezTo>
                    <a:pt x="10058400" y="903732"/>
                    <a:pt x="9992868" y="969264"/>
                    <a:pt x="9912096" y="969264"/>
                  </a:cubicBezTo>
                  <a:lnTo>
                    <a:pt x="146304" y="969264"/>
                  </a:lnTo>
                  <a:cubicBezTo>
                    <a:pt x="65532" y="969264"/>
                    <a:pt x="0" y="903732"/>
                    <a:pt x="0" y="82296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97280" y="2530602"/>
            <a:ext cx="384048" cy="384048"/>
            <a:chOff x="0" y="0"/>
            <a:chExt cx="512064" cy="512064"/>
          </a:xfrm>
        </p:grpSpPr>
        <p:sp>
          <p:nvSpPr>
            <p:cNvPr id="11" name="Freeform 11" descr="icons/user_white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73352" y="2359152"/>
            <a:ext cx="6515100" cy="726948"/>
            <a:chOff x="0" y="0"/>
            <a:chExt cx="8686800" cy="9692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686800" cy="969264"/>
            </a:xfrm>
            <a:custGeom>
              <a:avLst/>
              <a:gdLst/>
              <a:ahLst/>
              <a:cxnLst/>
              <a:rect l="l" t="t" r="r" b="b"/>
              <a:pathLst>
                <a:path w="8686800" h="969264">
                  <a:moveTo>
                    <a:pt x="0" y="0"/>
                  </a:moveTo>
                  <a:lnTo>
                    <a:pt x="8686800" y="0"/>
                  </a:lnTo>
                  <a:lnTo>
                    <a:pt x="8686800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30" b="-12463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686800" cy="10073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 spc="7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85132" y="3090215"/>
            <a:ext cx="219456" cy="128930"/>
            <a:chOff x="0" y="0"/>
            <a:chExt cx="292608" cy="17190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2608" cy="171958"/>
            </a:xfrm>
            <a:custGeom>
              <a:avLst/>
              <a:gdLst/>
              <a:ahLst/>
              <a:cxnLst/>
              <a:rect l="l" t="t" r="r" b="b"/>
              <a:pathLst>
                <a:path w="292608" h="171958">
                  <a:moveTo>
                    <a:pt x="0" y="85979"/>
                  </a:moveTo>
                  <a:lnTo>
                    <a:pt x="73152" y="85979"/>
                  </a:lnTo>
                  <a:lnTo>
                    <a:pt x="73152" y="0"/>
                  </a:lnTo>
                  <a:lnTo>
                    <a:pt x="219456" y="0"/>
                  </a:lnTo>
                  <a:lnTo>
                    <a:pt x="219456" y="85979"/>
                  </a:lnTo>
                  <a:lnTo>
                    <a:pt x="292608" y="85979"/>
                  </a:lnTo>
                  <a:lnTo>
                    <a:pt x="146304" y="171958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13435" y="3213735"/>
            <a:ext cx="7562850" cy="745998"/>
            <a:chOff x="0" y="0"/>
            <a:chExt cx="10083800" cy="9946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083800" cy="994664"/>
            </a:xfrm>
            <a:custGeom>
              <a:avLst/>
              <a:gdLst/>
              <a:ahLst/>
              <a:cxnLst/>
              <a:rect l="l" t="t" r="r" b="b"/>
              <a:pathLst>
                <a:path w="10083800" h="994664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9933686" y="0"/>
                  </a:lnTo>
                  <a:cubicBezTo>
                    <a:pt x="10016617" y="0"/>
                    <a:pt x="10083800" y="67183"/>
                    <a:pt x="10083800" y="150114"/>
                  </a:cubicBezTo>
                  <a:lnTo>
                    <a:pt x="10083800" y="844550"/>
                  </a:lnTo>
                  <a:cubicBezTo>
                    <a:pt x="10083800" y="927481"/>
                    <a:pt x="10016617" y="994664"/>
                    <a:pt x="9933686" y="994664"/>
                  </a:cubicBezTo>
                  <a:lnTo>
                    <a:pt x="150114" y="994664"/>
                  </a:lnTo>
                  <a:cubicBezTo>
                    <a:pt x="67183" y="994664"/>
                    <a:pt x="0" y="927481"/>
                    <a:pt x="0" y="844550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097280" y="3394710"/>
            <a:ext cx="384048" cy="384048"/>
            <a:chOff x="0" y="0"/>
            <a:chExt cx="512064" cy="512064"/>
          </a:xfrm>
        </p:grpSpPr>
        <p:sp>
          <p:nvSpPr>
            <p:cNvPr id="20" name="Freeform 20" descr="icons/layers_navy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673352" y="3223260"/>
            <a:ext cx="6515100" cy="726948"/>
            <a:chOff x="0" y="0"/>
            <a:chExt cx="8686800" cy="96926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686800" cy="969264"/>
            </a:xfrm>
            <a:custGeom>
              <a:avLst/>
              <a:gdLst/>
              <a:ahLst/>
              <a:cxnLst/>
              <a:rect l="l" t="t" r="r" b="b"/>
              <a:pathLst>
                <a:path w="8686800" h="969264">
                  <a:moveTo>
                    <a:pt x="0" y="0"/>
                  </a:moveTo>
                  <a:lnTo>
                    <a:pt x="8686800" y="0"/>
                  </a:lnTo>
                  <a:lnTo>
                    <a:pt x="8686800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30" b="-12463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686800" cy="10073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 spc="75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85132" y="3954323"/>
            <a:ext cx="219456" cy="128930"/>
            <a:chOff x="0" y="0"/>
            <a:chExt cx="292608" cy="17190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92608" cy="171958"/>
            </a:xfrm>
            <a:custGeom>
              <a:avLst/>
              <a:gdLst/>
              <a:ahLst/>
              <a:cxnLst/>
              <a:rect l="l" t="t" r="r" b="b"/>
              <a:pathLst>
                <a:path w="292608" h="171958">
                  <a:moveTo>
                    <a:pt x="0" y="85979"/>
                  </a:moveTo>
                  <a:lnTo>
                    <a:pt x="73152" y="85979"/>
                  </a:lnTo>
                  <a:lnTo>
                    <a:pt x="73152" y="0"/>
                  </a:lnTo>
                  <a:lnTo>
                    <a:pt x="219456" y="0"/>
                  </a:lnTo>
                  <a:lnTo>
                    <a:pt x="219456" y="85979"/>
                  </a:lnTo>
                  <a:lnTo>
                    <a:pt x="292608" y="85979"/>
                  </a:lnTo>
                  <a:lnTo>
                    <a:pt x="146304" y="171958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813435" y="4077843"/>
            <a:ext cx="7562850" cy="745998"/>
            <a:chOff x="0" y="0"/>
            <a:chExt cx="10083800" cy="9946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083800" cy="994664"/>
            </a:xfrm>
            <a:custGeom>
              <a:avLst/>
              <a:gdLst/>
              <a:ahLst/>
              <a:cxnLst/>
              <a:rect l="l" t="t" r="r" b="b"/>
              <a:pathLst>
                <a:path w="10083800" h="994664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9933686" y="0"/>
                  </a:lnTo>
                  <a:cubicBezTo>
                    <a:pt x="10016617" y="0"/>
                    <a:pt x="10083800" y="67183"/>
                    <a:pt x="10083800" y="150114"/>
                  </a:cubicBezTo>
                  <a:lnTo>
                    <a:pt x="10083800" y="844550"/>
                  </a:lnTo>
                  <a:cubicBezTo>
                    <a:pt x="10083800" y="927481"/>
                    <a:pt x="10016617" y="994664"/>
                    <a:pt x="9933686" y="994664"/>
                  </a:cubicBezTo>
                  <a:lnTo>
                    <a:pt x="150114" y="994664"/>
                  </a:lnTo>
                  <a:cubicBezTo>
                    <a:pt x="67183" y="994664"/>
                    <a:pt x="0" y="927481"/>
                    <a:pt x="0" y="844550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097280" y="4258818"/>
            <a:ext cx="384048" cy="384048"/>
            <a:chOff x="0" y="0"/>
            <a:chExt cx="512064" cy="512064"/>
          </a:xfrm>
        </p:grpSpPr>
        <p:sp>
          <p:nvSpPr>
            <p:cNvPr id="29" name="Freeform 29" descr="icons/lock_teal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673352" y="4087368"/>
            <a:ext cx="6515100" cy="726948"/>
            <a:chOff x="0" y="0"/>
            <a:chExt cx="8686800" cy="96926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686800" cy="969264"/>
            </a:xfrm>
            <a:custGeom>
              <a:avLst/>
              <a:gdLst/>
              <a:ahLst/>
              <a:cxnLst/>
              <a:rect l="l" t="t" r="r" b="b"/>
              <a:pathLst>
                <a:path w="8686800" h="969264">
                  <a:moveTo>
                    <a:pt x="0" y="0"/>
                  </a:moveTo>
                  <a:lnTo>
                    <a:pt x="8686800" y="0"/>
                  </a:lnTo>
                  <a:lnTo>
                    <a:pt x="8686800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30" b="-12463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686800" cy="10073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 spc="75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AUTHENTICATION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485132" y="4818431"/>
            <a:ext cx="219456" cy="128930"/>
            <a:chOff x="0" y="0"/>
            <a:chExt cx="292608" cy="17190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92608" cy="171958"/>
            </a:xfrm>
            <a:custGeom>
              <a:avLst/>
              <a:gdLst/>
              <a:ahLst/>
              <a:cxnLst/>
              <a:rect l="l" t="t" r="r" b="b"/>
              <a:pathLst>
                <a:path w="292608" h="171958">
                  <a:moveTo>
                    <a:pt x="0" y="85979"/>
                  </a:moveTo>
                  <a:lnTo>
                    <a:pt x="73152" y="85979"/>
                  </a:lnTo>
                  <a:lnTo>
                    <a:pt x="73152" y="0"/>
                  </a:lnTo>
                  <a:lnTo>
                    <a:pt x="219456" y="0"/>
                  </a:lnTo>
                  <a:lnTo>
                    <a:pt x="219456" y="85979"/>
                  </a:lnTo>
                  <a:lnTo>
                    <a:pt x="292608" y="85979"/>
                  </a:lnTo>
                  <a:lnTo>
                    <a:pt x="146304" y="171958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813435" y="4941951"/>
            <a:ext cx="7562850" cy="745998"/>
            <a:chOff x="0" y="0"/>
            <a:chExt cx="10083800" cy="99466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083800" cy="994664"/>
            </a:xfrm>
            <a:custGeom>
              <a:avLst/>
              <a:gdLst/>
              <a:ahLst/>
              <a:cxnLst/>
              <a:rect l="l" t="t" r="r" b="b"/>
              <a:pathLst>
                <a:path w="10083800" h="994664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9933686" y="0"/>
                  </a:lnTo>
                  <a:cubicBezTo>
                    <a:pt x="10016617" y="0"/>
                    <a:pt x="10083800" y="67183"/>
                    <a:pt x="10083800" y="150114"/>
                  </a:cubicBezTo>
                  <a:lnTo>
                    <a:pt x="10083800" y="844550"/>
                  </a:lnTo>
                  <a:cubicBezTo>
                    <a:pt x="10083800" y="927481"/>
                    <a:pt x="10016617" y="994664"/>
                    <a:pt x="9933686" y="994664"/>
                  </a:cubicBezTo>
                  <a:lnTo>
                    <a:pt x="150114" y="994664"/>
                  </a:lnTo>
                  <a:cubicBezTo>
                    <a:pt x="67183" y="994664"/>
                    <a:pt x="0" y="927481"/>
                    <a:pt x="0" y="844550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97280" y="5122926"/>
            <a:ext cx="384048" cy="384048"/>
            <a:chOff x="0" y="0"/>
            <a:chExt cx="512064" cy="512064"/>
          </a:xfrm>
        </p:grpSpPr>
        <p:sp>
          <p:nvSpPr>
            <p:cNvPr id="38" name="Freeform 38" descr="icons/usershield_teal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1673352" y="4951476"/>
            <a:ext cx="6515100" cy="726948"/>
            <a:chOff x="0" y="0"/>
            <a:chExt cx="8686800" cy="96926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686800" cy="969264"/>
            </a:xfrm>
            <a:custGeom>
              <a:avLst/>
              <a:gdLst/>
              <a:ahLst/>
              <a:cxnLst/>
              <a:rect l="l" t="t" r="r" b="b"/>
              <a:pathLst>
                <a:path w="8686800" h="969264">
                  <a:moveTo>
                    <a:pt x="0" y="0"/>
                  </a:moveTo>
                  <a:lnTo>
                    <a:pt x="8686800" y="0"/>
                  </a:lnTo>
                  <a:lnTo>
                    <a:pt x="8686800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30" b="-12463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8686800" cy="10073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 spc="75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ROLE-BASED ACCESS CONTROL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485132" y="5682539"/>
            <a:ext cx="219456" cy="128930"/>
            <a:chOff x="0" y="0"/>
            <a:chExt cx="292608" cy="17190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92608" cy="171958"/>
            </a:xfrm>
            <a:custGeom>
              <a:avLst/>
              <a:gdLst/>
              <a:ahLst/>
              <a:cxnLst/>
              <a:rect l="l" t="t" r="r" b="b"/>
              <a:pathLst>
                <a:path w="292608" h="171958">
                  <a:moveTo>
                    <a:pt x="0" y="85979"/>
                  </a:moveTo>
                  <a:lnTo>
                    <a:pt x="73152" y="85979"/>
                  </a:lnTo>
                  <a:lnTo>
                    <a:pt x="73152" y="0"/>
                  </a:lnTo>
                  <a:lnTo>
                    <a:pt x="219456" y="0"/>
                  </a:lnTo>
                  <a:lnTo>
                    <a:pt x="219456" y="85979"/>
                  </a:lnTo>
                  <a:lnTo>
                    <a:pt x="292608" y="85979"/>
                  </a:lnTo>
                  <a:lnTo>
                    <a:pt x="146304" y="171958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813435" y="5806059"/>
            <a:ext cx="7562850" cy="745998"/>
            <a:chOff x="0" y="0"/>
            <a:chExt cx="10083800" cy="99466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083800" cy="994664"/>
            </a:xfrm>
            <a:custGeom>
              <a:avLst/>
              <a:gdLst/>
              <a:ahLst/>
              <a:cxnLst/>
              <a:rect l="l" t="t" r="r" b="b"/>
              <a:pathLst>
                <a:path w="10083800" h="994664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9933686" y="0"/>
                  </a:lnTo>
                  <a:cubicBezTo>
                    <a:pt x="10016617" y="0"/>
                    <a:pt x="10083800" y="67183"/>
                    <a:pt x="10083800" y="150114"/>
                  </a:cubicBezTo>
                  <a:lnTo>
                    <a:pt x="10083800" y="844550"/>
                  </a:lnTo>
                  <a:cubicBezTo>
                    <a:pt x="10083800" y="927481"/>
                    <a:pt x="10016617" y="994664"/>
                    <a:pt x="9933686" y="994664"/>
                  </a:cubicBezTo>
                  <a:lnTo>
                    <a:pt x="150114" y="994664"/>
                  </a:lnTo>
                  <a:cubicBezTo>
                    <a:pt x="67183" y="994664"/>
                    <a:pt x="0" y="927481"/>
                    <a:pt x="0" y="844550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097280" y="5987034"/>
            <a:ext cx="384048" cy="384048"/>
            <a:chOff x="0" y="0"/>
            <a:chExt cx="512064" cy="512064"/>
          </a:xfrm>
        </p:grpSpPr>
        <p:sp>
          <p:nvSpPr>
            <p:cNvPr id="47" name="Freeform 47" descr="icons/server_teal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1673352" y="5815584"/>
            <a:ext cx="6515100" cy="726948"/>
            <a:chOff x="0" y="0"/>
            <a:chExt cx="8686800" cy="96926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686800" cy="969264"/>
            </a:xfrm>
            <a:custGeom>
              <a:avLst/>
              <a:gdLst/>
              <a:ahLst/>
              <a:cxnLst/>
              <a:rect l="l" t="t" r="r" b="b"/>
              <a:pathLst>
                <a:path w="8686800" h="969264">
                  <a:moveTo>
                    <a:pt x="0" y="0"/>
                  </a:moveTo>
                  <a:lnTo>
                    <a:pt x="8686800" y="0"/>
                  </a:lnTo>
                  <a:lnTo>
                    <a:pt x="8686800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30" b="-12463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8686800" cy="10073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 spc="75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/ API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485132" y="6546647"/>
            <a:ext cx="219456" cy="128930"/>
            <a:chOff x="0" y="0"/>
            <a:chExt cx="292608" cy="17190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92608" cy="171958"/>
            </a:xfrm>
            <a:custGeom>
              <a:avLst/>
              <a:gdLst/>
              <a:ahLst/>
              <a:cxnLst/>
              <a:rect l="l" t="t" r="r" b="b"/>
              <a:pathLst>
                <a:path w="292608" h="171958">
                  <a:moveTo>
                    <a:pt x="0" y="85979"/>
                  </a:moveTo>
                  <a:lnTo>
                    <a:pt x="73152" y="85979"/>
                  </a:lnTo>
                  <a:lnTo>
                    <a:pt x="73152" y="0"/>
                  </a:lnTo>
                  <a:lnTo>
                    <a:pt x="219456" y="0"/>
                  </a:lnTo>
                  <a:lnTo>
                    <a:pt x="219456" y="85979"/>
                  </a:lnTo>
                  <a:lnTo>
                    <a:pt x="292608" y="85979"/>
                  </a:lnTo>
                  <a:lnTo>
                    <a:pt x="146304" y="171958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813435" y="6670167"/>
            <a:ext cx="7562850" cy="745998"/>
            <a:chOff x="0" y="0"/>
            <a:chExt cx="10083800" cy="99466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083800" cy="994664"/>
            </a:xfrm>
            <a:custGeom>
              <a:avLst/>
              <a:gdLst/>
              <a:ahLst/>
              <a:cxnLst/>
              <a:rect l="l" t="t" r="r" b="b"/>
              <a:pathLst>
                <a:path w="10083800" h="994664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9933686" y="0"/>
                  </a:lnTo>
                  <a:cubicBezTo>
                    <a:pt x="10016617" y="0"/>
                    <a:pt x="10083800" y="67183"/>
                    <a:pt x="10083800" y="150114"/>
                  </a:cubicBezTo>
                  <a:lnTo>
                    <a:pt x="10083800" y="844550"/>
                  </a:lnTo>
                  <a:cubicBezTo>
                    <a:pt x="10083800" y="927481"/>
                    <a:pt x="10016617" y="994664"/>
                    <a:pt x="9933686" y="994664"/>
                  </a:cubicBezTo>
                  <a:lnTo>
                    <a:pt x="150114" y="994664"/>
                  </a:lnTo>
                  <a:cubicBezTo>
                    <a:pt x="67183" y="994664"/>
                    <a:pt x="0" y="927481"/>
                    <a:pt x="0" y="844550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1097280" y="6851142"/>
            <a:ext cx="384048" cy="384048"/>
            <a:chOff x="0" y="0"/>
            <a:chExt cx="512064" cy="512064"/>
          </a:xfrm>
        </p:grpSpPr>
        <p:sp>
          <p:nvSpPr>
            <p:cNvPr id="56" name="Freeform 56" descr="icons/database_teal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1673352" y="6679692"/>
            <a:ext cx="6515100" cy="726948"/>
            <a:chOff x="0" y="0"/>
            <a:chExt cx="8686800" cy="96926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686800" cy="969264"/>
            </a:xfrm>
            <a:custGeom>
              <a:avLst/>
              <a:gdLst/>
              <a:ahLst/>
              <a:cxnLst/>
              <a:rect l="l" t="t" r="r" b="b"/>
              <a:pathLst>
                <a:path w="8686800" h="969264">
                  <a:moveTo>
                    <a:pt x="0" y="0"/>
                  </a:moveTo>
                  <a:lnTo>
                    <a:pt x="8686800" y="0"/>
                  </a:lnTo>
                  <a:lnTo>
                    <a:pt x="8686800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30" b="-124630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8686800" cy="10073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 spc="75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 RECORD DATABASE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485132" y="7410755"/>
            <a:ext cx="219456" cy="128930"/>
            <a:chOff x="0" y="0"/>
            <a:chExt cx="292608" cy="171907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92608" cy="171958"/>
            </a:xfrm>
            <a:custGeom>
              <a:avLst/>
              <a:gdLst/>
              <a:ahLst/>
              <a:cxnLst/>
              <a:rect l="l" t="t" r="r" b="b"/>
              <a:pathLst>
                <a:path w="292608" h="171958">
                  <a:moveTo>
                    <a:pt x="0" y="85979"/>
                  </a:moveTo>
                  <a:lnTo>
                    <a:pt x="73152" y="85979"/>
                  </a:lnTo>
                  <a:lnTo>
                    <a:pt x="73152" y="0"/>
                  </a:lnTo>
                  <a:lnTo>
                    <a:pt x="219456" y="0"/>
                  </a:lnTo>
                  <a:lnTo>
                    <a:pt x="219456" y="85979"/>
                  </a:lnTo>
                  <a:lnTo>
                    <a:pt x="292608" y="85979"/>
                  </a:lnTo>
                  <a:lnTo>
                    <a:pt x="146304" y="171958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813435" y="7534275"/>
            <a:ext cx="7562850" cy="745998"/>
            <a:chOff x="0" y="0"/>
            <a:chExt cx="10083800" cy="99466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083800" cy="994664"/>
            </a:xfrm>
            <a:custGeom>
              <a:avLst/>
              <a:gdLst/>
              <a:ahLst/>
              <a:cxnLst/>
              <a:rect l="l" t="t" r="r" b="b"/>
              <a:pathLst>
                <a:path w="10083800" h="994664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9933686" y="0"/>
                  </a:lnTo>
                  <a:cubicBezTo>
                    <a:pt x="10016617" y="0"/>
                    <a:pt x="10083800" y="67183"/>
                    <a:pt x="10083800" y="150114"/>
                  </a:cubicBezTo>
                  <a:lnTo>
                    <a:pt x="10083800" y="844550"/>
                  </a:lnTo>
                  <a:cubicBezTo>
                    <a:pt x="10083800" y="927481"/>
                    <a:pt x="10016617" y="994664"/>
                    <a:pt x="9933686" y="994664"/>
                  </a:cubicBezTo>
                  <a:lnTo>
                    <a:pt x="150114" y="994664"/>
                  </a:lnTo>
                  <a:cubicBezTo>
                    <a:pt x="67183" y="994664"/>
                    <a:pt x="0" y="927481"/>
                    <a:pt x="0" y="844550"/>
                  </a:cubicBezTo>
                  <a:close/>
                </a:path>
              </a:pathLst>
            </a:custGeom>
            <a:solidFill>
              <a:srgbClr val="F5F9FA"/>
            </a:solidFill>
            <a:ln w="19050" cap="sq">
              <a:solidFill>
                <a:srgbClr val="DCE7E8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1097280" y="7715250"/>
            <a:ext cx="384048" cy="384048"/>
            <a:chOff x="0" y="0"/>
            <a:chExt cx="512064" cy="512064"/>
          </a:xfrm>
        </p:grpSpPr>
        <p:sp>
          <p:nvSpPr>
            <p:cNvPr id="65" name="Freeform 65" descr="icons/lock_teal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6" name="Group 66"/>
          <p:cNvGrpSpPr/>
          <p:nvPr/>
        </p:nvGrpSpPr>
        <p:grpSpPr>
          <a:xfrm>
            <a:off x="1673352" y="7543800"/>
            <a:ext cx="6515100" cy="726948"/>
            <a:chOff x="0" y="0"/>
            <a:chExt cx="8686800" cy="96926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686800" cy="969264"/>
            </a:xfrm>
            <a:custGeom>
              <a:avLst/>
              <a:gdLst/>
              <a:ahLst/>
              <a:cxnLst/>
              <a:rect l="l" t="t" r="r" b="b"/>
              <a:pathLst>
                <a:path w="8686800" h="969264">
                  <a:moveTo>
                    <a:pt x="0" y="0"/>
                  </a:moveTo>
                  <a:lnTo>
                    <a:pt x="8686800" y="0"/>
                  </a:lnTo>
                  <a:lnTo>
                    <a:pt x="8686800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30" b="-124630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8686800" cy="10073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 spc="75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SECURE DOCUMENT STORAGE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13435" y="8508111"/>
            <a:ext cx="7562850" cy="869442"/>
            <a:chOff x="0" y="0"/>
            <a:chExt cx="10083800" cy="115925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0083800" cy="1159256"/>
            </a:xfrm>
            <a:custGeom>
              <a:avLst/>
              <a:gdLst/>
              <a:ahLst/>
              <a:cxnLst/>
              <a:rect l="l" t="t" r="r" b="b"/>
              <a:pathLst>
                <a:path w="10083800" h="1159256">
                  <a:moveTo>
                    <a:pt x="0" y="168275"/>
                  </a:moveTo>
                  <a:cubicBezTo>
                    <a:pt x="0" y="75311"/>
                    <a:pt x="75311" y="0"/>
                    <a:pt x="168275" y="0"/>
                  </a:cubicBezTo>
                  <a:lnTo>
                    <a:pt x="9915525" y="0"/>
                  </a:lnTo>
                  <a:cubicBezTo>
                    <a:pt x="10008489" y="0"/>
                    <a:pt x="10083800" y="75311"/>
                    <a:pt x="10083800" y="168275"/>
                  </a:cubicBezTo>
                  <a:lnTo>
                    <a:pt x="10083800" y="990981"/>
                  </a:lnTo>
                  <a:cubicBezTo>
                    <a:pt x="10083800" y="1083945"/>
                    <a:pt x="10008489" y="1159256"/>
                    <a:pt x="9915525" y="1159256"/>
                  </a:cubicBezTo>
                  <a:lnTo>
                    <a:pt x="168275" y="1159256"/>
                  </a:lnTo>
                  <a:cubicBezTo>
                    <a:pt x="75311" y="1159256"/>
                    <a:pt x="0" y="1083945"/>
                    <a:pt x="0" y="990981"/>
                  </a:cubicBezTo>
                  <a:close/>
                </a:path>
              </a:pathLst>
            </a:custGeom>
            <a:solidFill>
              <a:srgbClr val="FFF7E8"/>
            </a:solidFill>
            <a:ln w="19050" cap="sq">
              <a:solidFill>
                <a:srgbClr val="F0DCA8"/>
              </a:solidFill>
              <a:prstDash val="solid"/>
              <a:miter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1097280" y="8737092"/>
            <a:ext cx="411480" cy="411480"/>
            <a:chOff x="0" y="0"/>
            <a:chExt cx="548640" cy="548640"/>
          </a:xfrm>
        </p:grpSpPr>
        <p:sp>
          <p:nvSpPr>
            <p:cNvPr id="72" name="Freeform 72" descr="icons/history_teal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1673352" y="8517636"/>
            <a:ext cx="6515100" cy="850392"/>
            <a:chOff x="0" y="0"/>
            <a:chExt cx="8686800" cy="113385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686800" cy="1133856"/>
            </a:xfrm>
            <a:custGeom>
              <a:avLst/>
              <a:gdLst/>
              <a:ahLst/>
              <a:cxnLst/>
              <a:rect l="l" t="t" r="r" b="b"/>
              <a:pathLst>
                <a:path w="8686800" h="1133856">
                  <a:moveTo>
                    <a:pt x="0" y="0"/>
                  </a:moveTo>
                  <a:lnTo>
                    <a:pt x="8686800" y="0"/>
                  </a:lnTo>
                  <a:lnTo>
                    <a:pt x="8686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280" b="-99280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8686800" cy="11529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8A64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 LOG DATABASE  —  separate, append-only store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9669780" y="2400300"/>
            <a:ext cx="7818120" cy="3497580"/>
            <a:chOff x="0" y="0"/>
            <a:chExt cx="10424160" cy="46634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424160" cy="4663440"/>
            </a:xfrm>
            <a:custGeom>
              <a:avLst/>
              <a:gdLst/>
              <a:ahLst/>
              <a:cxnLst/>
              <a:rect l="l" t="t" r="r" b="b"/>
              <a:pathLst>
                <a:path w="10424160" h="466344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0168128" y="0"/>
                  </a:lnTo>
                  <a:cubicBezTo>
                    <a:pt x="10309479" y="0"/>
                    <a:pt x="10424160" y="114681"/>
                    <a:pt x="10424160" y="256032"/>
                  </a:cubicBezTo>
                  <a:lnTo>
                    <a:pt x="10424160" y="4407408"/>
                  </a:lnTo>
                  <a:cubicBezTo>
                    <a:pt x="10424160" y="4548759"/>
                    <a:pt x="10309479" y="4663440"/>
                    <a:pt x="10168128" y="4663440"/>
                  </a:cubicBezTo>
                  <a:lnTo>
                    <a:pt x="256032" y="4663440"/>
                  </a:lnTo>
                  <a:cubicBezTo>
                    <a:pt x="114681" y="4663440"/>
                    <a:pt x="0" y="4548759"/>
                    <a:pt x="0" y="4407408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78" name="Group 78"/>
          <p:cNvGrpSpPr/>
          <p:nvPr/>
        </p:nvGrpSpPr>
        <p:grpSpPr>
          <a:xfrm>
            <a:off x="10081260" y="2702052"/>
            <a:ext cx="6995160" cy="411480"/>
            <a:chOff x="0" y="0"/>
            <a:chExt cx="9326880" cy="54864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9326880" cy="548640"/>
            </a:xfrm>
            <a:custGeom>
              <a:avLst/>
              <a:gdLst/>
              <a:ahLst/>
              <a:cxnLst/>
              <a:rect l="l" t="t" r="r" b="b"/>
              <a:pathLst>
                <a:path w="9326880" h="548640">
                  <a:moveTo>
                    <a:pt x="0" y="0"/>
                  </a:moveTo>
                  <a:lnTo>
                    <a:pt x="9326880" y="0"/>
                  </a:lnTo>
                  <a:lnTo>
                    <a:pt x="9326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28575"/>
              <a:ext cx="93268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1FB6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PROTOTYPE STACK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0108692" y="3332988"/>
            <a:ext cx="137160" cy="137160"/>
            <a:chOff x="0" y="0"/>
            <a:chExt cx="182880" cy="18288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80" h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10424160" y="3182112"/>
            <a:ext cx="6583680" cy="480060"/>
            <a:chOff x="0" y="0"/>
            <a:chExt cx="8778240" cy="64008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778240" cy="640080"/>
            </a:xfrm>
            <a:custGeom>
              <a:avLst/>
              <a:gdLst/>
              <a:ahLst/>
              <a:cxnLst/>
              <a:rect l="l" t="t" r="r" b="b"/>
              <a:pathLst>
                <a:path w="8778240" h="64008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223" b="-217223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877824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+ Tailwind CSS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0108692" y="3950208"/>
            <a:ext cx="137160" cy="137160"/>
            <a:chOff x="0" y="0"/>
            <a:chExt cx="182880" cy="18288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80" h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88" name="Group 88"/>
          <p:cNvGrpSpPr/>
          <p:nvPr/>
        </p:nvGrpSpPr>
        <p:grpSpPr>
          <a:xfrm>
            <a:off x="10424160" y="3799332"/>
            <a:ext cx="6583680" cy="480060"/>
            <a:chOff x="0" y="0"/>
            <a:chExt cx="8778240" cy="64008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778240" cy="640080"/>
            </a:xfrm>
            <a:custGeom>
              <a:avLst/>
              <a:gdLst/>
              <a:ahLst/>
              <a:cxnLst/>
              <a:rect l="l" t="t" r="r" b="b"/>
              <a:pathLst>
                <a:path w="8778240" h="64008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223" b="-217223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877824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Firebase / Supabase Authentication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0108692" y="4567428"/>
            <a:ext cx="137160" cy="137160"/>
            <a:chOff x="0" y="0"/>
            <a:chExt cx="182880" cy="18288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80" h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93" name="Group 93"/>
          <p:cNvGrpSpPr/>
          <p:nvPr/>
        </p:nvGrpSpPr>
        <p:grpSpPr>
          <a:xfrm>
            <a:off x="10424160" y="4416552"/>
            <a:ext cx="6583680" cy="480060"/>
            <a:chOff x="0" y="0"/>
            <a:chExt cx="8778240" cy="64008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8778240" cy="640080"/>
            </a:xfrm>
            <a:custGeom>
              <a:avLst/>
              <a:gdLst/>
              <a:ahLst/>
              <a:cxnLst/>
              <a:rect l="l" t="t" r="r" b="b"/>
              <a:pathLst>
                <a:path w="8778240" h="64008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223" b="-217223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877824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Firestore / PostgreSQL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0108692" y="5184648"/>
            <a:ext cx="137160" cy="137160"/>
            <a:chOff x="0" y="0"/>
            <a:chExt cx="182880" cy="18288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80" h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98" name="Group 98"/>
          <p:cNvGrpSpPr/>
          <p:nvPr/>
        </p:nvGrpSpPr>
        <p:grpSpPr>
          <a:xfrm>
            <a:off x="10424160" y="5033772"/>
            <a:ext cx="6583680" cy="480060"/>
            <a:chOff x="0" y="0"/>
            <a:chExt cx="8778240" cy="64008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8778240" cy="640080"/>
            </a:xfrm>
            <a:custGeom>
              <a:avLst/>
              <a:gdLst/>
              <a:ahLst/>
              <a:cxnLst/>
              <a:rect l="l" t="t" r="r" b="b"/>
              <a:pathLst>
                <a:path w="8778240" h="64008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223" b="-217223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877824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Firebase / Supabase Storage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0081260" y="5349240"/>
            <a:ext cx="6995160" cy="438912"/>
            <a:chOff x="0" y="0"/>
            <a:chExt cx="9326880" cy="585216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9326880" cy="585216"/>
            </a:xfrm>
            <a:custGeom>
              <a:avLst/>
              <a:gdLst/>
              <a:ahLst/>
              <a:cxnLst/>
              <a:rect l="l" t="t" r="r" b="b"/>
              <a:pathLst>
                <a:path w="9326880" h="585216">
                  <a:moveTo>
                    <a:pt x="0" y="0"/>
                  </a:moveTo>
                  <a:lnTo>
                    <a:pt x="9326880" y="0"/>
                  </a:lnTo>
                  <a:lnTo>
                    <a:pt x="9326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0542" b="-260542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28575"/>
              <a:ext cx="9326880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i="1">
                  <a:solidFill>
                    <a:srgbClr val="9FB4C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Proposed for the prototype — not yet implemented unless demonstrated live.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9669780" y="6309360"/>
            <a:ext cx="7818120" cy="411480"/>
            <a:chOff x="0" y="0"/>
            <a:chExt cx="10424160" cy="54864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0424160" cy="548640"/>
            </a:xfrm>
            <a:custGeom>
              <a:avLst/>
              <a:gdLst/>
              <a:ahLst/>
              <a:cxnLst/>
              <a:rect l="l" t="t" r="r" b="b"/>
              <a:pathLst>
                <a:path w="10424160" h="548640">
                  <a:moveTo>
                    <a:pt x="0" y="0"/>
                  </a:moveTo>
                  <a:lnTo>
                    <a:pt x="10424160" y="0"/>
                  </a:lnTo>
                  <a:lnTo>
                    <a:pt x="10424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0215" b="-320215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28575"/>
              <a:ext cx="1042416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CONCEPTS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9669780" y="6789420"/>
            <a:ext cx="2128723" cy="521208"/>
            <a:chOff x="0" y="0"/>
            <a:chExt cx="2838298" cy="694944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2838323" cy="694944"/>
            </a:xfrm>
            <a:custGeom>
              <a:avLst/>
              <a:gdLst/>
              <a:ahLst/>
              <a:cxnLst/>
              <a:rect l="l" t="t" r="r" b="b"/>
              <a:pathLst>
                <a:path w="2838323" h="69494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710307" y="0"/>
                  </a:lnTo>
                  <a:cubicBezTo>
                    <a:pt x="2781046" y="0"/>
                    <a:pt x="2838323" y="57277"/>
                    <a:pt x="2838323" y="128016"/>
                  </a:cubicBezTo>
                  <a:lnTo>
                    <a:pt x="2838323" y="566928"/>
                  </a:lnTo>
                  <a:cubicBezTo>
                    <a:pt x="2838323" y="637667"/>
                    <a:pt x="2781046" y="694944"/>
                    <a:pt x="2710307" y="694944"/>
                  </a:cubicBezTo>
                  <a:lnTo>
                    <a:pt x="128016" y="694944"/>
                  </a:lnTo>
                  <a:cubicBezTo>
                    <a:pt x="57277" y="694944"/>
                    <a:pt x="0" y="637667"/>
                    <a:pt x="0" y="566928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109" name="Group 109"/>
          <p:cNvGrpSpPr/>
          <p:nvPr/>
        </p:nvGrpSpPr>
        <p:grpSpPr>
          <a:xfrm>
            <a:off x="9669780" y="6789420"/>
            <a:ext cx="2128723" cy="521208"/>
            <a:chOff x="0" y="0"/>
            <a:chExt cx="2838298" cy="694944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2838298" cy="694944"/>
            </a:xfrm>
            <a:custGeom>
              <a:avLst/>
              <a:gdLst/>
              <a:ahLst/>
              <a:cxnLst/>
              <a:rect l="l" t="t" r="r" b="b"/>
              <a:pathLst>
                <a:path w="2838298" h="694944">
                  <a:moveTo>
                    <a:pt x="0" y="0"/>
                  </a:moveTo>
                  <a:lnTo>
                    <a:pt x="2838298" y="0"/>
                  </a:lnTo>
                  <a:lnTo>
                    <a:pt x="283829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580" b="-29580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19050"/>
              <a:ext cx="2838298" cy="713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Authentication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2045391" y="6789420"/>
            <a:ext cx="2008022" cy="521208"/>
            <a:chOff x="0" y="0"/>
            <a:chExt cx="2677363" cy="694944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2677414" cy="694944"/>
            </a:xfrm>
            <a:custGeom>
              <a:avLst/>
              <a:gdLst/>
              <a:ahLst/>
              <a:cxnLst/>
              <a:rect l="l" t="t" r="r" b="b"/>
              <a:pathLst>
                <a:path w="2677414" h="69494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549398" y="0"/>
                  </a:lnTo>
                  <a:cubicBezTo>
                    <a:pt x="2620137" y="0"/>
                    <a:pt x="2677414" y="57277"/>
                    <a:pt x="2677414" y="128016"/>
                  </a:cubicBezTo>
                  <a:lnTo>
                    <a:pt x="2677414" y="566928"/>
                  </a:lnTo>
                  <a:cubicBezTo>
                    <a:pt x="2677414" y="637667"/>
                    <a:pt x="2620137" y="694944"/>
                    <a:pt x="2549398" y="694944"/>
                  </a:cubicBezTo>
                  <a:lnTo>
                    <a:pt x="128016" y="694944"/>
                  </a:lnTo>
                  <a:cubicBezTo>
                    <a:pt x="57277" y="694944"/>
                    <a:pt x="0" y="637667"/>
                    <a:pt x="0" y="566928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114" name="Group 114"/>
          <p:cNvGrpSpPr/>
          <p:nvPr/>
        </p:nvGrpSpPr>
        <p:grpSpPr>
          <a:xfrm>
            <a:off x="12045391" y="6789420"/>
            <a:ext cx="2008022" cy="521208"/>
            <a:chOff x="0" y="0"/>
            <a:chExt cx="2677363" cy="694944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2677364" cy="694944"/>
            </a:xfrm>
            <a:custGeom>
              <a:avLst/>
              <a:gdLst/>
              <a:ahLst/>
              <a:cxnLst/>
              <a:rect l="l" t="t" r="r" b="b"/>
              <a:pathLst>
                <a:path w="2677364" h="694944">
                  <a:moveTo>
                    <a:pt x="0" y="0"/>
                  </a:moveTo>
                  <a:lnTo>
                    <a:pt x="2677364" y="0"/>
                  </a:lnTo>
                  <a:lnTo>
                    <a:pt x="26773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68" b="-25068"/>
              </a:stretch>
            </a:blipFill>
          </p:spPr>
        </p:sp>
        <p:sp>
          <p:nvSpPr>
            <p:cNvPr id="116" name="TextBox 116"/>
            <p:cNvSpPr txBox="1"/>
            <p:nvPr/>
          </p:nvSpPr>
          <p:spPr>
            <a:xfrm>
              <a:off x="0" y="-19050"/>
              <a:ext cx="2677363" cy="713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Authorization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14300302" y="6789420"/>
            <a:ext cx="3094330" cy="521208"/>
            <a:chOff x="0" y="0"/>
            <a:chExt cx="4125773" cy="694944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4125722" cy="694944"/>
            </a:xfrm>
            <a:custGeom>
              <a:avLst/>
              <a:gdLst/>
              <a:ahLst/>
              <a:cxnLst/>
              <a:rect l="l" t="t" r="r" b="b"/>
              <a:pathLst>
                <a:path w="4125722" h="69494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997706" y="0"/>
                  </a:lnTo>
                  <a:cubicBezTo>
                    <a:pt x="4068445" y="0"/>
                    <a:pt x="4125722" y="57277"/>
                    <a:pt x="4125722" y="128016"/>
                  </a:cubicBezTo>
                  <a:lnTo>
                    <a:pt x="4125722" y="566928"/>
                  </a:lnTo>
                  <a:cubicBezTo>
                    <a:pt x="4125722" y="637667"/>
                    <a:pt x="4068445" y="694944"/>
                    <a:pt x="3997706" y="694944"/>
                  </a:cubicBezTo>
                  <a:lnTo>
                    <a:pt x="128016" y="694944"/>
                  </a:lnTo>
                  <a:cubicBezTo>
                    <a:pt x="57277" y="694944"/>
                    <a:pt x="0" y="637667"/>
                    <a:pt x="0" y="566928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119" name="Group 119"/>
          <p:cNvGrpSpPr/>
          <p:nvPr/>
        </p:nvGrpSpPr>
        <p:grpSpPr>
          <a:xfrm>
            <a:off x="14300302" y="6789420"/>
            <a:ext cx="3094330" cy="521208"/>
            <a:chOff x="0" y="0"/>
            <a:chExt cx="4125773" cy="694944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4125772" cy="694944"/>
            </a:xfrm>
            <a:custGeom>
              <a:avLst/>
              <a:gdLst/>
              <a:ahLst/>
              <a:cxnLst/>
              <a:rect l="l" t="t" r="r" b="b"/>
              <a:pathLst>
                <a:path w="4125772" h="694944">
                  <a:moveTo>
                    <a:pt x="0" y="0"/>
                  </a:moveTo>
                  <a:lnTo>
                    <a:pt x="4125772" y="0"/>
                  </a:lnTo>
                  <a:lnTo>
                    <a:pt x="4125772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79" b="-65679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19050"/>
              <a:ext cx="4125773" cy="713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Role-Based Permissions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9669780" y="7447788"/>
            <a:ext cx="1887322" cy="521208"/>
            <a:chOff x="0" y="0"/>
            <a:chExt cx="2516429" cy="694944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2516378" cy="694944"/>
            </a:xfrm>
            <a:custGeom>
              <a:avLst/>
              <a:gdLst/>
              <a:ahLst/>
              <a:cxnLst/>
              <a:rect l="l" t="t" r="r" b="b"/>
              <a:pathLst>
                <a:path w="2516378" h="69494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388362" y="0"/>
                  </a:lnTo>
                  <a:cubicBezTo>
                    <a:pt x="2459101" y="0"/>
                    <a:pt x="2516378" y="57277"/>
                    <a:pt x="2516378" y="128016"/>
                  </a:cubicBezTo>
                  <a:lnTo>
                    <a:pt x="2516378" y="566928"/>
                  </a:lnTo>
                  <a:cubicBezTo>
                    <a:pt x="2516378" y="637667"/>
                    <a:pt x="2459101" y="694944"/>
                    <a:pt x="2388362" y="694944"/>
                  </a:cubicBezTo>
                  <a:lnTo>
                    <a:pt x="128016" y="694944"/>
                  </a:lnTo>
                  <a:cubicBezTo>
                    <a:pt x="57277" y="694944"/>
                    <a:pt x="0" y="637667"/>
                    <a:pt x="0" y="566928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124" name="Group 124"/>
          <p:cNvGrpSpPr/>
          <p:nvPr/>
        </p:nvGrpSpPr>
        <p:grpSpPr>
          <a:xfrm>
            <a:off x="9669780" y="7447788"/>
            <a:ext cx="1887322" cy="521208"/>
            <a:chOff x="0" y="0"/>
            <a:chExt cx="2516429" cy="694944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2516428" cy="694944"/>
            </a:xfrm>
            <a:custGeom>
              <a:avLst/>
              <a:gdLst/>
              <a:ahLst/>
              <a:cxnLst/>
              <a:rect l="l" t="t" r="r" b="b"/>
              <a:pathLst>
                <a:path w="2516428" h="694944">
                  <a:moveTo>
                    <a:pt x="0" y="0"/>
                  </a:moveTo>
                  <a:lnTo>
                    <a:pt x="2516428" y="0"/>
                  </a:lnTo>
                  <a:lnTo>
                    <a:pt x="251642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556" b="-20556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19050"/>
              <a:ext cx="2516429" cy="713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Auditability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1803990" y="7447788"/>
            <a:ext cx="3577133" cy="521208"/>
            <a:chOff x="0" y="0"/>
            <a:chExt cx="4769510" cy="694944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4769485" cy="694944"/>
            </a:xfrm>
            <a:custGeom>
              <a:avLst/>
              <a:gdLst/>
              <a:ahLst/>
              <a:cxnLst/>
              <a:rect l="l" t="t" r="r" b="b"/>
              <a:pathLst>
                <a:path w="4769485" h="694944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641469" y="0"/>
                  </a:lnTo>
                  <a:cubicBezTo>
                    <a:pt x="4712208" y="0"/>
                    <a:pt x="4769485" y="57277"/>
                    <a:pt x="4769485" y="128016"/>
                  </a:cubicBezTo>
                  <a:lnTo>
                    <a:pt x="4769485" y="566928"/>
                  </a:lnTo>
                  <a:cubicBezTo>
                    <a:pt x="4769485" y="637667"/>
                    <a:pt x="4712208" y="694944"/>
                    <a:pt x="4641469" y="694944"/>
                  </a:cubicBezTo>
                  <a:lnTo>
                    <a:pt x="128016" y="694944"/>
                  </a:lnTo>
                  <a:cubicBezTo>
                    <a:pt x="57277" y="694944"/>
                    <a:pt x="0" y="637667"/>
                    <a:pt x="0" y="566928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id="129" name="Group 129"/>
          <p:cNvGrpSpPr/>
          <p:nvPr/>
        </p:nvGrpSpPr>
        <p:grpSpPr>
          <a:xfrm>
            <a:off x="11803990" y="7447788"/>
            <a:ext cx="3577133" cy="521208"/>
            <a:chOff x="0" y="0"/>
            <a:chExt cx="4769510" cy="694944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4769510" cy="694944"/>
            </a:xfrm>
            <a:custGeom>
              <a:avLst/>
              <a:gdLst/>
              <a:ahLst/>
              <a:cxnLst/>
              <a:rect l="l" t="t" r="r" b="b"/>
              <a:pathLst>
                <a:path w="4769510" h="694944">
                  <a:moveTo>
                    <a:pt x="0" y="0"/>
                  </a:moveTo>
                  <a:lnTo>
                    <a:pt x="4769510" y="0"/>
                  </a:lnTo>
                  <a:lnTo>
                    <a:pt x="476951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728" b="-83728"/>
              </a:stretch>
            </a:blipFill>
          </p:spPr>
        </p:sp>
        <p:sp>
          <p:nvSpPr>
            <p:cNvPr id="131" name="TextBox 131"/>
            <p:cNvSpPr txBox="1"/>
            <p:nvPr/>
          </p:nvSpPr>
          <p:spPr>
            <a:xfrm>
              <a:off x="0" y="-19050"/>
              <a:ext cx="4769510" cy="713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Encryption-at-Rest Concept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822960" y="9793224"/>
            <a:ext cx="8229600" cy="384048"/>
            <a:chOff x="0" y="0"/>
            <a:chExt cx="10972800" cy="512064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134" name="TextBox 134"/>
            <p:cNvSpPr txBox="1"/>
            <p:nvPr/>
          </p:nvSpPr>
          <p:spPr>
            <a:xfrm>
              <a:off x="0" y="-28575"/>
              <a:ext cx="109728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HEALTHVAULT  |  URAN 2026  |  HT-05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6500348" y="9793224"/>
            <a:ext cx="1234440" cy="384048"/>
            <a:chOff x="0" y="0"/>
            <a:chExt cx="1645920" cy="512064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1645920" cy="512064"/>
            </a:xfrm>
            <a:custGeom>
              <a:avLst/>
              <a:gdLst/>
              <a:ahLst/>
              <a:cxnLst/>
              <a:rect l="l" t="t" r="r" b="b"/>
              <a:pathLst>
                <a:path w="1645920" h="512064">
                  <a:moveTo>
                    <a:pt x="0" y="0"/>
                  </a:moveTo>
                  <a:lnTo>
                    <a:pt x="1645920" y="0"/>
                  </a:lnTo>
                  <a:lnTo>
                    <a:pt x="1645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30" b="-12630"/>
              </a:stretch>
            </a:blipFill>
          </p:spPr>
        </p:sp>
        <p:sp>
          <p:nvSpPr>
            <p:cNvPr id="137" name="TextBox 137"/>
            <p:cNvSpPr txBox="1"/>
            <p:nvPr/>
          </p:nvSpPr>
          <p:spPr>
            <a:xfrm>
              <a:off x="0" y="-28575"/>
              <a:ext cx="164592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B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 / 10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480060"/>
            <a:ext cx="6858000" cy="480060"/>
            <a:chOff x="0" y="0"/>
            <a:chExt cx="9144000" cy="6400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1FB6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DEMO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5528" y="850392"/>
            <a:ext cx="15773400" cy="960120"/>
            <a:chOff x="0" y="0"/>
            <a:chExt cx="21031200" cy="12801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1031200" cy="12896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Record Creation to Secure Access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2960" y="2125980"/>
            <a:ext cx="7886700" cy="685800"/>
            <a:chOff x="0" y="0"/>
            <a:chExt cx="10515600" cy="91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351008" y="0"/>
                  </a:lnTo>
                  <a:cubicBezTo>
                    <a:pt x="10441940" y="0"/>
                    <a:pt x="10515600" y="73660"/>
                    <a:pt x="10515600" y="164592"/>
                  </a:cubicBezTo>
                  <a:lnTo>
                    <a:pt x="10515600" y="749808"/>
                  </a:lnTo>
                  <a:cubicBezTo>
                    <a:pt x="10515600" y="840740"/>
                    <a:pt x="10441940" y="914400"/>
                    <a:pt x="10351008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87552" y="2249424"/>
            <a:ext cx="438912" cy="438912"/>
            <a:chOff x="0" y="0"/>
            <a:chExt cx="585216" cy="58521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7200" y="0"/>
                  </a:lnTo>
                  <a:cubicBezTo>
                    <a:pt x="527939" y="0"/>
                    <a:pt x="585216" y="57277"/>
                    <a:pt x="585216" y="128016"/>
                  </a:cubicBezTo>
                  <a:lnTo>
                    <a:pt x="585216" y="457200"/>
                  </a:lnTo>
                  <a:cubicBezTo>
                    <a:pt x="585216" y="527939"/>
                    <a:pt x="527939" y="585216"/>
                    <a:pt x="457200" y="585216"/>
                  </a:cubicBezTo>
                  <a:lnTo>
                    <a:pt x="128016" y="585216"/>
                  </a:lnTo>
                  <a:cubicBezTo>
                    <a:pt x="57277" y="585216"/>
                    <a:pt x="0" y="527939"/>
                    <a:pt x="0" y="457200"/>
                  </a:cubicBez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87552" y="2249424"/>
            <a:ext cx="438912" cy="438912"/>
            <a:chOff x="0" y="0"/>
            <a:chExt cx="585216" cy="5852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18488" y="2125980"/>
            <a:ext cx="6926580" cy="685800"/>
            <a:chOff x="0" y="0"/>
            <a:chExt cx="9235440" cy="914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235440" cy="914400"/>
            </a:xfrm>
            <a:custGeom>
              <a:avLst/>
              <a:gdLst/>
              <a:ahLst/>
              <a:cxnLst/>
              <a:rect l="l" t="t" r="r" b="b"/>
              <a:pathLst>
                <a:path w="9235440" h="91440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798" b="-14679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23544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2948940"/>
            <a:ext cx="7886700" cy="685800"/>
            <a:chOff x="0" y="0"/>
            <a:chExt cx="10515600" cy="91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351008" y="0"/>
                  </a:lnTo>
                  <a:cubicBezTo>
                    <a:pt x="10441940" y="0"/>
                    <a:pt x="10515600" y="73660"/>
                    <a:pt x="10515600" y="164592"/>
                  </a:cubicBezTo>
                  <a:lnTo>
                    <a:pt x="10515600" y="749808"/>
                  </a:lnTo>
                  <a:cubicBezTo>
                    <a:pt x="10515600" y="840740"/>
                    <a:pt x="10441940" y="914400"/>
                    <a:pt x="10351008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87552" y="3072384"/>
            <a:ext cx="438912" cy="438912"/>
            <a:chOff x="0" y="0"/>
            <a:chExt cx="585216" cy="58521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7200" y="0"/>
                  </a:lnTo>
                  <a:cubicBezTo>
                    <a:pt x="527939" y="0"/>
                    <a:pt x="585216" y="57277"/>
                    <a:pt x="585216" y="128016"/>
                  </a:cubicBezTo>
                  <a:lnTo>
                    <a:pt x="585216" y="457200"/>
                  </a:lnTo>
                  <a:cubicBezTo>
                    <a:pt x="585216" y="527939"/>
                    <a:pt x="527939" y="585216"/>
                    <a:pt x="457200" y="585216"/>
                  </a:cubicBezTo>
                  <a:lnTo>
                    <a:pt x="128016" y="585216"/>
                  </a:lnTo>
                  <a:cubicBezTo>
                    <a:pt x="57277" y="585216"/>
                    <a:pt x="0" y="527939"/>
                    <a:pt x="0" y="457200"/>
                  </a:cubicBez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87552" y="3072384"/>
            <a:ext cx="438912" cy="438912"/>
            <a:chOff x="0" y="0"/>
            <a:chExt cx="585216" cy="5852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618488" y="2948940"/>
            <a:ext cx="6926580" cy="685800"/>
            <a:chOff x="0" y="0"/>
            <a:chExt cx="9235440" cy="914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235440" cy="914400"/>
            </a:xfrm>
            <a:custGeom>
              <a:avLst/>
              <a:gdLst/>
              <a:ahLst/>
              <a:cxnLst/>
              <a:rect l="l" t="t" r="r" b="b"/>
              <a:pathLst>
                <a:path w="9235440" h="91440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798" b="-146798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923544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synthetic patient record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22960" y="3771900"/>
            <a:ext cx="7886700" cy="685800"/>
            <a:chOff x="0" y="0"/>
            <a:chExt cx="10515600" cy="914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351008" y="0"/>
                  </a:lnTo>
                  <a:cubicBezTo>
                    <a:pt x="10441940" y="0"/>
                    <a:pt x="10515600" y="73660"/>
                    <a:pt x="10515600" y="164592"/>
                  </a:cubicBezTo>
                  <a:lnTo>
                    <a:pt x="10515600" y="749808"/>
                  </a:lnTo>
                  <a:cubicBezTo>
                    <a:pt x="10515600" y="840740"/>
                    <a:pt x="10441940" y="914400"/>
                    <a:pt x="10351008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87552" y="3895344"/>
            <a:ext cx="438912" cy="438912"/>
            <a:chOff x="0" y="0"/>
            <a:chExt cx="585216" cy="58521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7200" y="0"/>
                  </a:lnTo>
                  <a:cubicBezTo>
                    <a:pt x="527939" y="0"/>
                    <a:pt x="585216" y="57277"/>
                    <a:pt x="585216" y="128016"/>
                  </a:cubicBezTo>
                  <a:lnTo>
                    <a:pt x="585216" y="457200"/>
                  </a:lnTo>
                  <a:cubicBezTo>
                    <a:pt x="585216" y="527939"/>
                    <a:pt x="527939" y="585216"/>
                    <a:pt x="457200" y="585216"/>
                  </a:cubicBezTo>
                  <a:lnTo>
                    <a:pt x="128016" y="585216"/>
                  </a:lnTo>
                  <a:cubicBezTo>
                    <a:pt x="57277" y="585216"/>
                    <a:pt x="0" y="527939"/>
                    <a:pt x="0" y="457200"/>
                  </a:cubicBez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987552" y="3895344"/>
            <a:ext cx="438912" cy="438912"/>
            <a:chOff x="0" y="0"/>
            <a:chExt cx="585216" cy="58521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18488" y="3771900"/>
            <a:ext cx="6926580" cy="685800"/>
            <a:chOff x="0" y="0"/>
            <a:chExt cx="9235440" cy="914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235440" cy="914400"/>
            </a:xfrm>
            <a:custGeom>
              <a:avLst/>
              <a:gdLst/>
              <a:ahLst/>
              <a:cxnLst/>
              <a:rect l="l" t="t" r="r" b="b"/>
              <a:pathLst>
                <a:path w="9235440" h="91440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798" b="-146798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923544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Upload medical document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22960" y="4594860"/>
            <a:ext cx="7886700" cy="685800"/>
            <a:chOff x="0" y="0"/>
            <a:chExt cx="10515600" cy="914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351008" y="0"/>
                  </a:lnTo>
                  <a:cubicBezTo>
                    <a:pt x="10441940" y="0"/>
                    <a:pt x="10515600" y="73660"/>
                    <a:pt x="10515600" y="164592"/>
                  </a:cubicBezTo>
                  <a:lnTo>
                    <a:pt x="10515600" y="749808"/>
                  </a:lnTo>
                  <a:cubicBezTo>
                    <a:pt x="10515600" y="840740"/>
                    <a:pt x="10441940" y="914400"/>
                    <a:pt x="10351008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987552" y="4718304"/>
            <a:ext cx="438912" cy="438912"/>
            <a:chOff x="0" y="0"/>
            <a:chExt cx="585216" cy="58521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7200" y="0"/>
                  </a:lnTo>
                  <a:cubicBezTo>
                    <a:pt x="527939" y="0"/>
                    <a:pt x="585216" y="57277"/>
                    <a:pt x="585216" y="128016"/>
                  </a:cubicBezTo>
                  <a:lnTo>
                    <a:pt x="585216" y="457200"/>
                  </a:lnTo>
                  <a:cubicBezTo>
                    <a:pt x="585216" y="527939"/>
                    <a:pt x="527939" y="585216"/>
                    <a:pt x="457200" y="585216"/>
                  </a:cubicBezTo>
                  <a:lnTo>
                    <a:pt x="128016" y="585216"/>
                  </a:lnTo>
                  <a:cubicBezTo>
                    <a:pt x="57277" y="585216"/>
                    <a:pt x="0" y="527939"/>
                    <a:pt x="0" y="457200"/>
                  </a:cubicBez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987552" y="4718304"/>
            <a:ext cx="438912" cy="438912"/>
            <a:chOff x="0" y="0"/>
            <a:chExt cx="585216" cy="58521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618488" y="4594860"/>
            <a:ext cx="6926580" cy="685800"/>
            <a:chOff x="0" y="0"/>
            <a:chExt cx="9235440" cy="914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235440" cy="914400"/>
            </a:xfrm>
            <a:custGeom>
              <a:avLst/>
              <a:gdLst/>
              <a:ahLst/>
              <a:cxnLst/>
              <a:rect l="l" t="t" r="r" b="b"/>
              <a:pathLst>
                <a:path w="9235440" h="91440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798" b="-146798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923544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 follow-up date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22960" y="5417820"/>
            <a:ext cx="7886700" cy="685800"/>
            <a:chOff x="0" y="0"/>
            <a:chExt cx="10515600" cy="9144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351008" y="0"/>
                  </a:lnTo>
                  <a:cubicBezTo>
                    <a:pt x="10441940" y="0"/>
                    <a:pt x="10515600" y="73660"/>
                    <a:pt x="10515600" y="164592"/>
                  </a:cubicBezTo>
                  <a:lnTo>
                    <a:pt x="10515600" y="749808"/>
                  </a:lnTo>
                  <a:cubicBezTo>
                    <a:pt x="10515600" y="840740"/>
                    <a:pt x="10441940" y="914400"/>
                    <a:pt x="10351008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987552" y="5541264"/>
            <a:ext cx="438912" cy="438912"/>
            <a:chOff x="0" y="0"/>
            <a:chExt cx="585216" cy="58521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7200" y="0"/>
                  </a:lnTo>
                  <a:cubicBezTo>
                    <a:pt x="527939" y="0"/>
                    <a:pt x="585216" y="57277"/>
                    <a:pt x="585216" y="128016"/>
                  </a:cubicBezTo>
                  <a:lnTo>
                    <a:pt x="585216" y="457200"/>
                  </a:lnTo>
                  <a:cubicBezTo>
                    <a:pt x="585216" y="527939"/>
                    <a:pt x="527939" y="585216"/>
                    <a:pt x="457200" y="585216"/>
                  </a:cubicBezTo>
                  <a:lnTo>
                    <a:pt x="128016" y="585216"/>
                  </a:lnTo>
                  <a:cubicBezTo>
                    <a:pt x="57277" y="585216"/>
                    <a:pt x="0" y="527939"/>
                    <a:pt x="0" y="457200"/>
                  </a:cubicBez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987552" y="5541264"/>
            <a:ext cx="438912" cy="438912"/>
            <a:chOff x="0" y="0"/>
            <a:chExt cx="585216" cy="58521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618488" y="5417820"/>
            <a:ext cx="6926580" cy="685800"/>
            <a:chOff x="0" y="0"/>
            <a:chExt cx="9235440" cy="914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235440" cy="914400"/>
            </a:xfrm>
            <a:custGeom>
              <a:avLst/>
              <a:gdLst/>
              <a:ahLst/>
              <a:cxnLst/>
              <a:rect l="l" t="t" r="r" b="b"/>
              <a:pathLst>
                <a:path w="9235440" h="91440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798" b="-146798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923544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as authorized provider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258300" y="2125980"/>
            <a:ext cx="7886700" cy="685800"/>
            <a:chOff x="0" y="0"/>
            <a:chExt cx="10515600" cy="9144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351008" y="0"/>
                  </a:lnTo>
                  <a:cubicBezTo>
                    <a:pt x="10441940" y="0"/>
                    <a:pt x="10515600" y="73660"/>
                    <a:pt x="10515600" y="164592"/>
                  </a:cubicBezTo>
                  <a:lnTo>
                    <a:pt x="10515600" y="749808"/>
                  </a:lnTo>
                  <a:cubicBezTo>
                    <a:pt x="10515600" y="840740"/>
                    <a:pt x="10441940" y="914400"/>
                    <a:pt x="10351008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9422892" y="2249424"/>
            <a:ext cx="438912" cy="438912"/>
            <a:chOff x="0" y="0"/>
            <a:chExt cx="585216" cy="58521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7200" y="0"/>
                  </a:lnTo>
                  <a:cubicBezTo>
                    <a:pt x="527939" y="0"/>
                    <a:pt x="585216" y="57277"/>
                    <a:pt x="585216" y="128016"/>
                  </a:cubicBezTo>
                  <a:lnTo>
                    <a:pt x="585216" y="457200"/>
                  </a:lnTo>
                  <a:cubicBezTo>
                    <a:pt x="585216" y="527939"/>
                    <a:pt x="527939" y="585216"/>
                    <a:pt x="457200" y="585216"/>
                  </a:cubicBezTo>
                  <a:lnTo>
                    <a:pt x="128016" y="585216"/>
                  </a:lnTo>
                  <a:cubicBezTo>
                    <a:pt x="57277" y="585216"/>
                    <a:pt x="0" y="527939"/>
                    <a:pt x="0" y="457200"/>
                  </a:cubicBez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9422892" y="2249424"/>
            <a:ext cx="438912" cy="438912"/>
            <a:chOff x="0" y="0"/>
            <a:chExt cx="585216" cy="58521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053828" y="2125980"/>
            <a:ext cx="6926580" cy="685800"/>
            <a:chOff x="0" y="0"/>
            <a:chExt cx="9235440" cy="9144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235440" cy="914400"/>
            </a:xfrm>
            <a:custGeom>
              <a:avLst/>
              <a:gdLst/>
              <a:ahLst/>
              <a:cxnLst/>
              <a:rect l="l" t="t" r="r" b="b"/>
              <a:pathLst>
                <a:path w="9235440" h="91440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798" b="-146798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923544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Access record successfully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258300" y="2948940"/>
            <a:ext cx="7886700" cy="685800"/>
            <a:chOff x="0" y="0"/>
            <a:chExt cx="10515600" cy="9144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351008" y="0"/>
                  </a:lnTo>
                  <a:cubicBezTo>
                    <a:pt x="10441940" y="0"/>
                    <a:pt x="10515600" y="73660"/>
                    <a:pt x="10515600" y="164592"/>
                  </a:cubicBezTo>
                  <a:lnTo>
                    <a:pt x="10515600" y="749808"/>
                  </a:lnTo>
                  <a:cubicBezTo>
                    <a:pt x="10515600" y="840740"/>
                    <a:pt x="10441940" y="914400"/>
                    <a:pt x="10351008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9422892" y="3072384"/>
            <a:ext cx="438912" cy="438912"/>
            <a:chOff x="0" y="0"/>
            <a:chExt cx="585216" cy="58521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7200" y="0"/>
                  </a:lnTo>
                  <a:cubicBezTo>
                    <a:pt x="527939" y="0"/>
                    <a:pt x="585216" y="57277"/>
                    <a:pt x="585216" y="128016"/>
                  </a:cubicBezTo>
                  <a:lnTo>
                    <a:pt x="585216" y="457200"/>
                  </a:lnTo>
                  <a:cubicBezTo>
                    <a:pt x="585216" y="527939"/>
                    <a:pt x="527939" y="585216"/>
                    <a:pt x="457200" y="585216"/>
                  </a:cubicBezTo>
                  <a:lnTo>
                    <a:pt x="128016" y="585216"/>
                  </a:lnTo>
                  <a:cubicBezTo>
                    <a:pt x="57277" y="585216"/>
                    <a:pt x="0" y="527939"/>
                    <a:pt x="0" y="457200"/>
                  </a:cubicBez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9422892" y="3072384"/>
            <a:ext cx="438912" cy="438912"/>
            <a:chOff x="0" y="0"/>
            <a:chExt cx="585216" cy="58521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0053828" y="2948940"/>
            <a:ext cx="6926580" cy="685800"/>
            <a:chOff x="0" y="0"/>
            <a:chExt cx="9235440" cy="9144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235440" cy="914400"/>
            </a:xfrm>
            <a:custGeom>
              <a:avLst/>
              <a:gdLst/>
              <a:ahLst/>
              <a:cxnLst/>
              <a:rect l="l" t="t" r="r" b="b"/>
              <a:pathLst>
                <a:path w="9235440" h="91440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798" b="-146798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923544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Attempt restricted access (another role)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258300" y="3771900"/>
            <a:ext cx="7886700" cy="685800"/>
            <a:chOff x="0" y="0"/>
            <a:chExt cx="10515600" cy="9144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351008" y="0"/>
                  </a:lnTo>
                  <a:cubicBezTo>
                    <a:pt x="10441940" y="0"/>
                    <a:pt x="10515600" y="73660"/>
                    <a:pt x="10515600" y="164592"/>
                  </a:cubicBezTo>
                  <a:lnTo>
                    <a:pt x="10515600" y="749808"/>
                  </a:lnTo>
                  <a:cubicBezTo>
                    <a:pt x="10515600" y="840740"/>
                    <a:pt x="10441940" y="914400"/>
                    <a:pt x="10351008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9422892" y="3895344"/>
            <a:ext cx="438912" cy="438912"/>
            <a:chOff x="0" y="0"/>
            <a:chExt cx="585216" cy="58521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7200" y="0"/>
                  </a:lnTo>
                  <a:cubicBezTo>
                    <a:pt x="527939" y="0"/>
                    <a:pt x="585216" y="57277"/>
                    <a:pt x="585216" y="128016"/>
                  </a:cubicBezTo>
                  <a:lnTo>
                    <a:pt x="585216" y="457200"/>
                  </a:lnTo>
                  <a:cubicBezTo>
                    <a:pt x="585216" y="527939"/>
                    <a:pt x="527939" y="585216"/>
                    <a:pt x="457200" y="585216"/>
                  </a:cubicBezTo>
                  <a:lnTo>
                    <a:pt x="128016" y="585216"/>
                  </a:lnTo>
                  <a:cubicBezTo>
                    <a:pt x="57277" y="585216"/>
                    <a:pt x="0" y="527939"/>
                    <a:pt x="0" y="457200"/>
                  </a:cubicBez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9422892" y="3895344"/>
            <a:ext cx="438912" cy="438912"/>
            <a:chOff x="0" y="0"/>
            <a:chExt cx="585216" cy="58521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0053828" y="3771900"/>
            <a:ext cx="6926580" cy="685800"/>
            <a:chOff x="0" y="0"/>
            <a:chExt cx="9235440" cy="9144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9235440" cy="914400"/>
            </a:xfrm>
            <a:custGeom>
              <a:avLst/>
              <a:gdLst/>
              <a:ahLst/>
              <a:cxnLst/>
              <a:rect l="l" t="t" r="r" b="b"/>
              <a:pathLst>
                <a:path w="9235440" h="91440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798" b="-146798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923544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Show ACCESS DENIED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258300" y="4594860"/>
            <a:ext cx="7886700" cy="685800"/>
            <a:chOff x="0" y="0"/>
            <a:chExt cx="10515600" cy="9144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351008" y="0"/>
                  </a:lnTo>
                  <a:cubicBezTo>
                    <a:pt x="10441940" y="0"/>
                    <a:pt x="10515600" y="73660"/>
                    <a:pt x="10515600" y="164592"/>
                  </a:cubicBezTo>
                  <a:lnTo>
                    <a:pt x="10515600" y="749808"/>
                  </a:lnTo>
                  <a:cubicBezTo>
                    <a:pt x="10515600" y="840740"/>
                    <a:pt x="10441940" y="914400"/>
                    <a:pt x="10351008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9422892" y="4718304"/>
            <a:ext cx="438912" cy="438912"/>
            <a:chOff x="0" y="0"/>
            <a:chExt cx="585216" cy="585216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7200" y="0"/>
                  </a:lnTo>
                  <a:cubicBezTo>
                    <a:pt x="527939" y="0"/>
                    <a:pt x="585216" y="57277"/>
                    <a:pt x="585216" y="128016"/>
                  </a:cubicBezTo>
                  <a:lnTo>
                    <a:pt x="585216" y="457200"/>
                  </a:lnTo>
                  <a:cubicBezTo>
                    <a:pt x="585216" y="527939"/>
                    <a:pt x="527939" y="585216"/>
                    <a:pt x="457200" y="585216"/>
                  </a:cubicBezTo>
                  <a:lnTo>
                    <a:pt x="128016" y="585216"/>
                  </a:lnTo>
                  <a:cubicBezTo>
                    <a:pt x="57277" y="585216"/>
                    <a:pt x="0" y="527939"/>
                    <a:pt x="0" y="457200"/>
                  </a:cubicBez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93" name="Group 93"/>
          <p:cNvGrpSpPr/>
          <p:nvPr/>
        </p:nvGrpSpPr>
        <p:grpSpPr>
          <a:xfrm>
            <a:off x="9422892" y="4718304"/>
            <a:ext cx="438912" cy="438912"/>
            <a:chOff x="0" y="0"/>
            <a:chExt cx="585216" cy="585216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0053828" y="4594860"/>
            <a:ext cx="6926580" cy="685800"/>
            <a:chOff x="0" y="0"/>
            <a:chExt cx="9235440" cy="9144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9235440" cy="914400"/>
            </a:xfrm>
            <a:custGeom>
              <a:avLst/>
              <a:gdLst/>
              <a:ahLst/>
              <a:cxnLst/>
              <a:rect l="l" t="t" r="r" b="b"/>
              <a:pathLst>
                <a:path w="9235440" h="91440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798" b="-146798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923544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 audit log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9258300" y="5417820"/>
            <a:ext cx="7886700" cy="685800"/>
            <a:chOff x="0" y="0"/>
            <a:chExt cx="10515600" cy="9144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351008" y="0"/>
                  </a:lnTo>
                  <a:cubicBezTo>
                    <a:pt x="10441940" y="0"/>
                    <a:pt x="10515600" y="73660"/>
                    <a:pt x="10515600" y="164592"/>
                  </a:cubicBezTo>
                  <a:lnTo>
                    <a:pt x="10515600" y="749808"/>
                  </a:lnTo>
                  <a:cubicBezTo>
                    <a:pt x="10515600" y="840740"/>
                    <a:pt x="10441940" y="914400"/>
                    <a:pt x="10351008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112A4C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9422892" y="5541264"/>
            <a:ext cx="438912" cy="438912"/>
            <a:chOff x="0" y="0"/>
            <a:chExt cx="585216" cy="585216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7200" y="0"/>
                  </a:lnTo>
                  <a:cubicBezTo>
                    <a:pt x="527939" y="0"/>
                    <a:pt x="585216" y="57277"/>
                    <a:pt x="585216" y="128016"/>
                  </a:cubicBezTo>
                  <a:lnTo>
                    <a:pt x="585216" y="457200"/>
                  </a:lnTo>
                  <a:cubicBezTo>
                    <a:pt x="585216" y="527939"/>
                    <a:pt x="527939" y="585216"/>
                    <a:pt x="457200" y="585216"/>
                  </a:cubicBezTo>
                  <a:lnTo>
                    <a:pt x="128016" y="585216"/>
                  </a:lnTo>
                  <a:cubicBezTo>
                    <a:pt x="57277" y="585216"/>
                    <a:pt x="0" y="527939"/>
                    <a:pt x="0" y="457200"/>
                  </a:cubicBez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id="103" name="Group 103"/>
          <p:cNvGrpSpPr/>
          <p:nvPr/>
        </p:nvGrpSpPr>
        <p:grpSpPr>
          <a:xfrm>
            <a:off x="9422892" y="5541264"/>
            <a:ext cx="438912" cy="438912"/>
            <a:chOff x="0" y="0"/>
            <a:chExt cx="585216" cy="585216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0053828" y="5417820"/>
            <a:ext cx="6926580" cy="685800"/>
            <a:chOff x="0" y="0"/>
            <a:chExt cx="9235440" cy="91440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9235440" cy="914400"/>
            </a:xfrm>
            <a:custGeom>
              <a:avLst/>
              <a:gdLst/>
              <a:ahLst/>
              <a:cxnLst/>
              <a:rect l="l" t="t" r="r" b="b"/>
              <a:pathLst>
                <a:path w="9235440" h="91440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798" b="-146798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-38100"/>
              <a:ext cx="923544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Show recorded access event</a:t>
              </a:r>
            </a:p>
          </p:txBody>
        </p:sp>
      </p:grpSp>
      <p:sp>
        <p:nvSpPr>
          <p:cNvPr id="109" name="AutoShape 109"/>
          <p:cNvSpPr/>
          <p:nvPr/>
        </p:nvSpPr>
        <p:spPr>
          <a:xfrm rot="3900">
            <a:off x="813425" y="6236018"/>
            <a:ext cx="16684000" cy="0"/>
          </a:xfrm>
          <a:prstGeom prst="line">
            <a:avLst/>
          </a:prstGeom>
          <a:ln w="9525" cap="rnd">
            <a:solidFill>
              <a:srgbClr val="24476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0" name="Group 110"/>
          <p:cNvGrpSpPr/>
          <p:nvPr/>
        </p:nvGrpSpPr>
        <p:grpSpPr>
          <a:xfrm>
            <a:off x="822960" y="6515100"/>
            <a:ext cx="8229600" cy="685800"/>
            <a:chOff x="0" y="0"/>
            <a:chExt cx="10972800" cy="91440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0972800" cy="914400"/>
            </a:xfrm>
            <a:custGeom>
              <a:avLst/>
              <a:gdLst/>
              <a:ahLst/>
              <a:cxnLst/>
              <a:rect l="l" t="t" r="r" b="b"/>
              <a:pathLst>
                <a:path w="10972800" h="914400">
                  <a:moveTo>
                    <a:pt x="0" y="0"/>
                  </a:moveTo>
                  <a:lnTo>
                    <a:pt x="10972800" y="0"/>
                  </a:lnTo>
                  <a:lnTo>
                    <a:pt x="10972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3820" b="-183820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19050"/>
              <a:ext cx="109728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HEALTHVAULT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850392" y="7242048"/>
            <a:ext cx="8229600" cy="480060"/>
            <a:chOff x="0" y="0"/>
            <a:chExt cx="10972800" cy="64008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4029" b="-284029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9525"/>
              <a:ext cx="109728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1FB6A6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“Your Health. Your Data. Your Control.”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9738360" y="6583680"/>
            <a:ext cx="7680960" cy="411480"/>
            <a:chOff x="0" y="0"/>
            <a:chExt cx="10241280" cy="54864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0241280" cy="548640"/>
            </a:xfrm>
            <a:custGeom>
              <a:avLst/>
              <a:gdLst/>
              <a:ahLst/>
              <a:cxnLst/>
              <a:rect l="l" t="t" r="r" b="b"/>
              <a:pathLst>
                <a:path w="10241280" h="548640">
                  <a:moveTo>
                    <a:pt x="0" y="0"/>
                  </a:moveTo>
                  <a:lnTo>
                    <a:pt x="10241280" y="0"/>
                  </a:lnTo>
                  <a:lnTo>
                    <a:pt x="10241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13720" b="-313720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28575"/>
              <a:ext cx="102412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1FB6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738360" y="7063740"/>
            <a:ext cx="3771900" cy="480060"/>
            <a:chOff x="0" y="0"/>
            <a:chExt cx="5029200" cy="64008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5029200" cy="640080"/>
            </a:xfrm>
            <a:custGeom>
              <a:avLst/>
              <a:gdLst/>
              <a:ahLst/>
              <a:cxnLst/>
              <a:rect l="l" t="t" r="r" b="b"/>
              <a:pathLst>
                <a:path w="5029200" h="640080">
                  <a:moveTo>
                    <a:pt x="0" y="0"/>
                  </a:moveTo>
                  <a:lnTo>
                    <a:pt x="5029200" y="0"/>
                  </a:lnTo>
                  <a:lnTo>
                    <a:pt x="502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3096" b="-103096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19050"/>
              <a:ext cx="50292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D7E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Advanced search and filtering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3647420" y="7063740"/>
            <a:ext cx="3771900" cy="480060"/>
            <a:chOff x="0" y="0"/>
            <a:chExt cx="5029200" cy="64008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5029200" cy="640080"/>
            </a:xfrm>
            <a:custGeom>
              <a:avLst/>
              <a:gdLst/>
              <a:ahLst/>
              <a:cxnLst/>
              <a:rect l="l" t="t" r="r" b="b"/>
              <a:pathLst>
                <a:path w="5029200" h="640080">
                  <a:moveTo>
                    <a:pt x="0" y="0"/>
                  </a:moveTo>
                  <a:lnTo>
                    <a:pt x="5029200" y="0"/>
                  </a:lnTo>
                  <a:lnTo>
                    <a:pt x="502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3096" b="-103096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-19050"/>
              <a:ext cx="50292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D7E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Stronger encryption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9738360" y="7612380"/>
            <a:ext cx="3771900" cy="480060"/>
            <a:chOff x="0" y="0"/>
            <a:chExt cx="5029200" cy="640080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5029200" cy="640080"/>
            </a:xfrm>
            <a:custGeom>
              <a:avLst/>
              <a:gdLst/>
              <a:ahLst/>
              <a:cxnLst/>
              <a:rect l="l" t="t" r="r" b="b"/>
              <a:pathLst>
                <a:path w="5029200" h="640080">
                  <a:moveTo>
                    <a:pt x="0" y="0"/>
                  </a:moveTo>
                  <a:lnTo>
                    <a:pt x="5029200" y="0"/>
                  </a:lnTo>
                  <a:lnTo>
                    <a:pt x="502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3096" b="-103096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-19050"/>
              <a:ext cx="50292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D7E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More healthcare integrations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13647420" y="7612380"/>
            <a:ext cx="3771900" cy="480060"/>
            <a:chOff x="0" y="0"/>
            <a:chExt cx="5029200" cy="64008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5029200" cy="640080"/>
            </a:xfrm>
            <a:custGeom>
              <a:avLst/>
              <a:gdLst/>
              <a:ahLst/>
              <a:cxnLst/>
              <a:rect l="l" t="t" r="r" b="b"/>
              <a:pathLst>
                <a:path w="5029200" h="640080">
                  <a:moveTo>
                    <a:pt x="0" y="0"/>
                  </a:moveTo>
                  <a:lnTo>
                    <a:pt x="5029200" y="0"/>
                  </a:lnTo>
                  <a:lnTo>
                    <a:pt x="502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3096" b="-103096"/>
              </a:stretch>
            </a:blipFill>
          </p:spPr>
        </p:sp>
        <p:sp>
          <p:nvSpPr>
            <p:cNvPr id="130" name="TextBox 130"/>
            <p:cNvSpPr txBox="1"/>
            <p:nvPr/>
          </p:nvSpPr>
          <p:spPr>
            <a:xfrm>
              <a:off x="0" y="-19050"/>
              <a:ext cx="50292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D7E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Expanded patient-provider workflows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22960" y="9395460"/>
            <a:ext cx="15773400" cy="480060"/>
            <a:chOff x="0" y="0"/>
            <a:chExt cx="21031200" cy="640080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21031200" cy="640080"/>
            </a:xfrm>
            <a:custGeom>
              <a:avLst/>
              <a:gdLst/>
              <a:ahLst/>
              <a:cxnLst/>
              <a:rect l="l" t="t" r="r" b="b"/>
              <a:pathLst>
                <a:path w="21031200" h="64008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90222" b="-590222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-28575"/>
              <a:ext cx="21031200" cy="668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C93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URAN 2026  |  HealthTech  |  HT-05  |  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702</Words>
  <Application>Microsoft Office PowerPoint</Application>
  <PresentationFormat>Custom</PresentationFormat>
  <Paragraphs>243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Calibri (MS) Italics</vt:lpstr>
      <vt:lpstr>Cambria Bold</vt:lpstr>
      <vt:lpstr>Arial</vt:lpstr>
      <vt:lpstr>Cambria Italics</vt:lpstr>
      <vt:lpstr>Cambria Bold Italics</vt:lpstr>
      <vt:lpstr>Calibri</vt:lpstr>
      <vt:lpstr>Calibri (MS) Bold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DOC-20260926-WA0037.pptx</dc:title>
  <dc:creator>Shahana Shasana</dc:creator>
  <cp:lastModifiedBy>Shahana Shasana</cp:lastModifiedBy>
  <cp:revision>3</cp:revision>
  <dcterms:created xsi:type="dcterms:W3CDTF">2006-08-16T00:00:00Z</dcterms:created>
  <dcterms:modified xsi:type="dcterms:W3CDTF">2026-09-26T09:01:16Z</dcterms:modified>
  <dc:identifier>DAHWRrYFciM</dc:identifier>
</cp:coreProperties>
</file>